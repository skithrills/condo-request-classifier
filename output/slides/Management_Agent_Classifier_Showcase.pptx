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46e2c5599d4114" /><Relationship Type="http://schemas.openxmlformats.org/officeDocument/2006/relationships/extended-properties" Target="/docProps/app.xml" Id="R35ba1c3b6b314a77" /><Relationship Type="http://schemas.openxmlformats.org/officeDocument/2006/relationships/officeDocument" Target="/ppt/presentation.xml" Id="R47d56a13c74f4f89" /></Relationships>
</file>

<file path=ppt/presentation.xml><?xml version="1.0" encoding="utf-8"?>
<p:presentation xmlns:p="http://schemas.openxmlformats.org/presentationml/2006/main">
  <p:sldMasterIdLst>
    <p:sldMasterId xmlns:r="http://schemas.openxmlformats.org/officeDocument/2006/relationships" id="2147483648" r:id="R6e8d4000ab194a39"/>
  </p:sldMasterIdLst>
  <p:notesMasterIdLst>
    <p:notesMasterId xmlns:r="http://schemas.openxmlformats.org/officeDocument/2006/relationships" r:id="Rd279cae04e9d43aa"/>
  </p:notesMasterIdLst>
  <p:sldIdLst>
    <p:sldId xmlns:r="http://schemas.openxmlformats.org/officeDocument/2006/relationships" id="256" r:id="Rd1557f79c138464f"/>
    <p:sldId xmlns:r="http://schemas.openxmlformats.org/officeDocument/2006/relationships" id="257" r:id="Rae344fb6d0f04c7a"/>
    <p:sldId xmlns:r="http://schemas.openxmlformats.org/officeDocument/2006/relationships" id="258" r:id="R5a0555b1ead64349"/>
    <p:sldId xmlns:r="http://schemas.openxmlformats.org/officeDocument/2006/relationships" id="259" r:id="R58193e9655204689"/>
    <p:sldId xmlns:r="http://schemas.openxmlformats.org/officeDocument/2006/relationships" id="260" r:id="R3ab91f61f4204257"/>
    <p:sldId xmlns:r="http://schemas.openxmlformats.org/officeDocument/2006/relationships" id="261" r:id="Rf7c68751ee6f45ca"/>
    <p:sldId xmlns:r="http://schemas.openxmlformats.org/officeDocument/2006/relationships" id="262" r:id="R0d8464f60ff14130"/>
    <p:sldId xmlns:r="http://schemas.openxmlformats.org/officeDocument/2006/relationships" id="263" r:id="R410c2242857346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5b2f18c1a24613" /><Relationship Type="http://schemas.openxmlformats.org/officeDocument/2006/relationships/slideMaster" Target="/ppt/slideMasters/slideMaster1.xml" Id="R6e8d4000ab194a39" /><Relationship Type="http://schemas.openxmlformats.org/officeDocument/2006/relationships/notesMaster" Target="/ppt/notesMasters/notesMaster1.xml" Id="Rd279cae04e9d43aa" /><Relationship Type="http://schemas.openxmlformats.org/officeDocument/2006/relationships/presProps" Target="/ppt/presProps.xml" Id="Ra2eaf8d8b3904d63" /><Relationship Type="http://schemas.openxmlformats.org/officeDocument/2006/relationships/tableStyles" Target="/ppt/tableStyles.xml" Id="R90171db441524d3c" /><Relationship Type="http://schemas.openxmlformats.org/officeDocument/2006/relationships/slide" Target="/ppt/slides/slide1.xml" Id="Rd1557f79c138464f" /><Relationship Type="http://schemas.openxmlformats.org/officeDocument/2006/relationships/slide" Target="/ppt/slides/slide2.xml" Id="Rae344fb6d0f04c7a" /><Relationship Type="http://schemas.openxmlformats.org/officeDocument/2006/relationships/slide" Target="/ppt/slides/slide3.xml" Id="R5a0555b1ead64349" /><Relationship Type="http://schemas.openxmlformats.org/officeDocument/2006/relationships/slide" Target="/ppt/slides/slide4.xml" Id="R58193e9655204689" /><Relationship Type="http://schemas.openxmlformats.org/officeDocument/2006/relationships/slide" Target="/ppt/slides/slide5.xml" Id="R3ab91f61f4204257" /><Relationship Type="http://schemas.openxmlformats.org/officeDocument/2006/relationships/slide" Target="/ppt/slides/slide6.xml" Id="Rf7c68751ee6f45ca" /><Relationship Type="http://schemas.openxmlformats.org/officeDocument/2006/relationships/slide" Target="/ppt/slides/slide7.xml" Id="R0d8464f60ff14130" /><Relationship Type="http://schemas.openxmlformats.org/officeDocument/2006/relationships/slide" Target="/ppt/slides/slide8.xml" Id="R410c2242857346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7300a917dc49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510abcec08410e" /><Relationship Type="http://schemas.openxmlformats.org/officeDocument/2006/relationships/notesMaster" Target="/ppt/notesMasters/notesMaster1.xml" Id="R7a262623e25147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b47c1a67994b7f" /><Relationship Type="http://schemas.openxmlformats.org/officeDocument/2006/relationships/notesMaster" Target="/ppt/notesMasters/notesMaster1.xml" Id="R8c8fa824681140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ce8dd210d043ef" /><Relationship Type="http://schemas.openxmlformats.org/officeDocument/2006/relationships/notesMaster" Target="/ppt/notesMasters/notesMaster1.xml" Id="R5bc6791e873647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501ae420f043bf" /><Relationship Type="http://schemas.openxmlformats.org/officeDocument/2006/relationships/notesMaster" Target="/ppt/notesMasters/notesMaster1.xml" Id="R12468d12cb5d48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9ba5e0cef94239" /><Relationship Type="http://schemas.openxmlformats.org/officeDocument/2006/relationships/notesMaster" Target="/ppt/notesMasters/notesMaster1.xml" Id="R84c10ea663804b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19d405a6f0402e" /><Relationship Type="http://schemas.openxmlformats.org/officeDocument/2006/relationships/notesMaster" Target="/ppt/notesMasters/notesMaster1.xml" Id="Rd3c6ddf6e57f47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86a953f8224323" /><Relationship Type="http://schemas.openxmlformats.org/officeDocument/2006/relationships/notesMaster" Target="/ppt/notesMasters/notesMaster1.xml" Id="Rc379672eda3e42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24e681739d488a" /><Relationship Type="http://schemas.openxmlformats.org/officeDocument/2006/relationships/notesMaster" Target="/ppt/notesMasters/notesMaster1.xml" Id="Ree786beacc0c4a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version of the existing edited video showcase. Visual direction: output/demo/stills and scripts/render_demo.py. Updated local Ollama evidence comes from reports/ollama-verification.json. The application classifies requests and suggests routing. Ticket creation and autonomous agents belong to future phases.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output/demo/captures/01-intake.jpg. Authentic app capture with a synthetic message. The default offline baseline uses the project's train.csv and requires no API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condo_classifier/service.py, schema.py, backends.py and README.md. The website calls the existing project Classifier. LangGraph orders the safety screen, backend classification and review policy. Emergency rules bypass model inference. Model outputs undergo schema and evidence validation. No work tickets or emergency dispatch occur.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output/demo/captures/02-maintenance.jpg. The pictured request demonstrates the offline classifier, with maintenance category, normal priority and suggested maintenance team. A model score does not represent validated real-world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output/demo/captures/03-emergency.jpg. Synthetic child trapped in lift example. Safety rules identify selected explicit English emergency phrases. All Ollama classifications require human confirmation because model confidence is uncalibrated. The app flags urgent reports but does not dispatch assistance.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output/demo/captures/04-batch.jpg. Batch supports up to 100 rows and a 2 MB CSV. The text column is required. Invalid inputs and provider errors receive row-level status. Exports include classifications for review, with spreadsheet formula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on 3 October 2026 in Singapore time. Sources: reports/ollama-verification.json, reports/baseline-evaluation.json and README.md. Comparison excludes five emergency cases handled by rules. Both classifiers ran the same 50 ordinary synthetic requests. Gemma produced 48 valid responses, of which 42 had correct categories. Two invalid outputs went to review. Warm valid response mean 1123.69375 ms, mean all attempts 1316.566 ms, cold classification 86598.8 ms. Hardware RTX 3080 with 10 GB VRAM. Gemma3:4b 4.3B Q4_K_M. Synthetic development evidence is not independent real resident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Startup supplied by project launcher start_project.cmd and scripts/start_project.ps1. From C:\Users\Skith\Documents\MSG, running start_project.cmd starts or reuses local Ollama at 127.0.0.1:11434 and Streamlit at localhost:8501, then opens the website. The app defaults to Offline baseline. Select Ollama in its sidebar to use gemma3:4b. The offline-only option is start_project.cmd -SkipOllama. Existing standalone Ollama installation is scoped to this workstation. For a clean installation follow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98cbf78e4c4b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4c891088a84a17" /><Relationship Type="http://schemas.openxmlformats.org/officeDocument/2006/relationships/slideLayout" Target="/ppt/slideLayouts/slideLayout1.xml" Id="Rec480dd12b9743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480dd12b9743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9b79877a8841ab" /><Relationship Type="http://schemas.openxmlformats.org/officeDocument/2006/relationships/notesSlide" Target="/ppt/notesSlides/notesSlide1.xml" Id="R52c4aed1a6644a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5be1c11a364dfc" /><Relationship Type="http://schemas.openxmlformats.org/officeDocument/2006/relationships/image" Target="/ppt/media/image.jpeg" Id="Rc3f945cc6b4648aa" /><Relationship Type="http://schemas.openxmlformats.org/officeDocument/2006/relationships/notesSlide" Target="/ppt/notesSlides/notesSlide2.xml" Id="Rbde0fceb39f844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af96a9bcec4c73" /><Relationship Type="http://schemas.openxmlformats.org/officeDocument/2006/relationships/notesSlide" Target="/ppt/notesSlides/notesSlide3.xml" Id="Rac05b1d5ffa040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c62197860b4249" /><Relationship Type="http://schemas.openxmlformats.org/officeDocument/2006/relationships/image" Target="/ppt/media/image2.jpeg" Id="R99a5f01924164fa3" /><Relationship Type="http://schemas.openxmlformats.org/officeDocument/2006/relationships/notesSlide" Target="/ppt/notesSlides/notesSlide4.xml" Id="Rb878dd794b2a4c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e7162dbdda47b9" /><Relationship Type="http://schemas.openxmlformats.org/officeDocument/2006/relationships/image" Target="/ppt/media/image3.jpeg" Id="Rf1d9fd3772fb4238" /><Relationship Type="http://schemas.openxmlformats.org/officeDocument/2006/relationships/notesSlide" Target="/ppt/notesSlides/notesSlide5.xml" Id="Rc4981545e18c42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db302b3f02486a" /><Relationship Type="http://schemas.openxmlformats.org/officeDocument/2006/relationships/image" Target="/ppt/media/image4.jpeg" Id="R57c226110a7944f6" /><Relationship Type="http://schemas.openxmlformats.org/officeDocument/2006/relationships/notesSlide" Target="/ppt/notesSlides/notesSlide6.xml" Id="Rdc0d550c525b4c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83bc201728493f" /><Relationship Type="http://schemas.openxmlformats.org/officeDocument/2006/relationships/notesSlide" Target="/ppt/notesSlides/notesSlide7.xml" Id="R99360b1b6b5b40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f854f2a7ac481c" /><Relationship Type="http://schemas.openxmlformats.org/officeDocument/2006/relationships/notesSlide" Target="/ppt/notesSlides/notesSlide8.xml" Id="Rec01d0af7eb14221" /></Relationships>
</file>

<file path=ppt/slides/slide1.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5" name="MANAGEMENT AGENT">
            <a:extLst xmlns:a="http://schemas.openxmlformats.org/drawingml/2006/main">
              <a:ext uri="{FF2B5EF4-FFF2-40B4-BE49-F238E27FC236}">
                <a16:creationId xmlns:a16="http://schemas.microsoft.com/office/drawing/2014/main" id="{F1778094-4D7D-49D6-B4A3-E0B3AA9933EE}"/>
              </a:ext>
            </a:extLst>
          </p:cNvPr>
          <p:cNvSpPr>
            <a:spLocks xmlns:a="http://schemas.openxmlformats.org/drawingml/2006/main" noGrp="1"/>
          </p:cNvSpPr>
          <p:nvPr/>
        </p:nvSpPr>
        <p:spPr>
          <a:xfrm xmlns:a="http://schemas.openxmlformats.org/drawingml/2006/main">
            <a:off x="609600" y="7620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6E1BD"/>
                </a:solidFill>
                <a:latin typeface="Segoe UI"/>
                <a:ea typeface="Segoe UI"/>
                <a:cs typeface="Segoe UI"/>
              </a:defRPr>
            </a:pPr>
            <a:r>
              <a:rPr sz="1875" b="1">
                <a:solidFill>
                  <a:srgbClr val="76E1BD"/>
                </a:solidFill>
                <a:latin typeface="Segoe UI"/>
                <a:ea typeface="Segoe UI"/>
                <a:cs typeface="Segoe UI"/>
              </a:rPr>
              <a:t>MANAGEMENT AGENT</a:t>
            </a:r>
          </a:p>
        </p:txBody>
      </p:sp>
      <p:sp>
        <p:nvSpPr>
          <p:cNvPr id="2" name="Resident request&#10;classifier">
            <a:extLst xmlns:a="http://schemas.openxmlformats.org/drawingml/2006/main">
              <a:ext uri="{FF2B5EF4-FFF2-40B4-BE49-F238E27FC236}">
                <a16:creationId xmlns:a16="http://schemas.microsoft.com/office/drawing/2014/main" id="{7650FA9F-9ED2-4BB8-9396-4DBECD02C128}"/>
              </a:ext>
            </a:extLst>
          </p:cNvPr>
          <p:cNvSpPr>
            <a:spLocks xmlns:a="http://schemas.openxmlformats.org/drawingml/2006/main" noGrp="1"/>
          </p:cNvSpPr>
          <p:nvPr/>
        </p:nvSpPr>
        <p:spPr>
          <a:xfrm xmlns:a="http://schemas.openxmlformats.org/drawingml/2006/main">
            <a:off x="571500" y="1952625"/>
            <a:ext cx="110109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5F8F5"/>
                </a:solidFill>
                <a:latin typeface="Segoe UI"/>
                <a:ea typeface="Segoe UI"/>
                <a:cs typeface="Segoe UI"/>
              </a:defRPr>
            </a:pPr>
            <a:r>
              <a:rPr sz="5700" b="1">
                <a:solidFill>
                  <a:srgbClr val="F5F8F5"/>
                </a:solidFill>
                <a:latin typeface="Segoe UI"/>
                <a:ea typeface="Segoe UI"/>
                <a:cs typeface="Segoe UI"/>
              </a:rPr>
              <a:t>Resident request</a:t>
            </a:r>
          </a:p>
          <a:p xmlns:a="http://schemas.openxmlformats.org/drawingml/2006/main">
            <a:pPr>
              <a:defRPr sz="5700" b="1">
                <a:solidFill>
                  <a:srgbClr val="F5F8F5"/>
                </a:solidFill>
                <a:latin typeface="Segoe UI"/>
                <a:ea typeface="Segoe UI"/>
                <a:cs typeface="Segoe UI"/>
              </a:defRPr>
            </a:pPr>
            <a:r>
              <a:rPr sz="5700" b="1">
                <a:solidFill>
                  <a:srgbClr val="F5F8F5"/>
                </a:solidFill>
                <a:latin typeface="Segoe UI"/>
                <a:ea typeface="Segoe UI"/>
                <a:cs typeface="Segoe UI"/>
              </a:rPr>
              <a:t>classifier</a:t>
            </a:r>
          </a:p>
        </p:txBody>
      </p:sp>
      <p:sp>
        <p:nvSpPr>
          <p:cNvPr id="3" name="Condominium operations prototype">
            <a:extLst xmlns:a="http://schemas.openxmlformats.org/drawingml/2006/main">
              <a:ext uri="{FF2B5EF4-FFF2-40B4-BE49-F238E27FC236}">
                <a16:creationId xmlns:a16="http://schemas.microsoft.com/office/drawing/2014/main" id="{E3001504-3B92-4587-9A34-86E9942F1730}"/>
              </a:ext>
            </a:extLst>
          </p:cNvPr>
          <p:cNvSpPr>
            <a:spLocks xmlns:a="http://schemas.openxmlformats.org/drawingml/2006/main" noGrp="1"/>
          </p:cNvSpPr>
          <p:nvPr/>
        </p:nvSpPr>
        <p:spPr>
          <a:xfrm xmlns:a="http://schemas.openxmlformats.org/drawingml/2006/main">
            <a:off x="609600" y="41052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A7BFC4"/>
                </a:solidFill>
                <a:latin typeface="Segoe UI"/>
                <a:ea typeface="Segoe UI"/>
                <a:cs typeface="Segoe UI"/>
              </a:defRPr>
            </a:pPr>
            <a:r>
              <a:rPr sz="2400" b="0">
                <a:solidFill>
                  <a:srgbClr val="A7BFC4"/>
                </a:solidFill>
                <a:latin typeface="Segoe UI"/>
                <a:ea typeface="Segoe UI"/>
                <a:cs typeface="Segoe UI"/>
              </a:rPr>
              <a:t>Condominium operations prototype</a:t>
            </a:r>
          </a:p>
        </p:txBody>
      </p:sp>
      <p:sp>
        <p:nvSpPr>
          <p:cNvPr id="4" name="Working local website with an offline classifier and Ollama ">
            <a:extLst xmlns:a="http://schemas.openxmlformats.org/drawingml/2006/main">
              <a:ext uri="{FF2B5EF4-FFF2-40B4-BE49-F238E27FC236}">
                <a16:creationId xmlns:a16="http://schemas.microsoft.com/office/drawing/2014/main" id="{1239EA31-A4AE-416A-B034-39F1C754CB2A}"/>
              </a:ext>
            </a:extLst>
          </p:cNvPr>
          <p:cNvSpPr>
            <a:spLocks xmlns:a="http://schemas.openxmlformats.org/drawingml/2006/main" noGrp="1"/>
          </p:cNvSpPr>
          <p:nvPr/>
        </p:nvSpPr>
        <p:spPr>
          <a:xfrm xmlns:a="http://schemas.openxmlformats.org/drawingml/2006/main">
            <a:off x="609600" y="54292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Working local website with an offline classifier and Ollama inference</a:t>
            </a:r>
          </a:p>
        </p:txBody>
      </p:sp>
    </p:spTree>
    <p:extLst>
      <p:ext uri="{BB962C8B-B14F-4D97-AF65-F5344CB8AC3E}">
        <p14:creationId xmlns:p14="http://schemas.microsoft.com/office/powerpoint/2010/main" val="1397435217"/>
      </p:ext>
    </p:extLst>
  </p:cSld>
</p:sld>
</file>

<file path=ppt/slides/slide2.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8" name="Resident intake">
            <a:extLst xmlns:a="http://schemas.openxmlformats.org/drawingml/2006/main">
              <a:ext uri="{FF2B5EF4-FFF2-40B4-BE49-F238E27FC236}">
                <a16:creationId xmlns:a16="http://schemas.microsoft.com/office/drawing/2014/main" id="{95532EA8-C93B-4D30-8FE3-A9C9AAAEA637}"/>
              </a:ext>
            </a:extLst>
          </p:cNvPr>
          <p:cNvSpPr>
            <a:spLocks xmlns:a="http://schemas.openxmlformats.org/drawingml/2006/main" noGrp="1"/>
          </p:cNvSpPr>
          <p:nvPr/>
        </p:nvSpPr>
        <p:spPr>
          <a:xfrm xmlns:a="http://schemas.openxmlformats.org/drawingml/2006/main">
            <a:off x="457200" y="400050"/>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8F5"/>
                </a:solidFill>
                <a:latin typeface="Segoe UI"/>
                <a:ea typeface="Segoe UI"/>
                <a:cs typeface="Segoe UI"/>
              </a:defRPr>
            </a:pPr>
            <a:r>
              <a:rPr sz="3450" b="1">
                <a:solidFill>
                  <a:srgbClr val="F5F8F5"/>
                </a:solidFill>
                <a:latin typeface="Segoe UI"/>
                <a:ea typeface="Segoe UI"/>
                <a:cs typeface="Segoe UI"/>
              </a:rPr>
              <a:t>Resident intake</a:t>
            </a:r>
          </a:p>
        </p:txBody>
      </p:sp>
      <p:sp>
        <p:nvSpPr>
          <p:cNvPr id="2" name="02 / 08">
            <a:extLst xmlns:a="http://schemas.openxmlformats.org/drawingml/2006/main">
              <a:ext uri="{FF2B5EF4-FFF2-40B4-BE49-F238E27FC236}">
                <a16:creationId xmlns:a16="http://schemas.microsoft.com/office/drawing/2014/main" id="{7454C684-4874-4688-8CE7-68A5BFB7A897}"/>
              </a:ext>
            </a:extLst>
          </p:cNvPr>
          <p:cNvSpPr>
            <a:spLocks xmlns:a="http://schemas.openxmlformats.org/drawingml/2006/main" noGrp="1"/>
          </p:cNvSpPr>
          <p:nvPr/>
        </p:nvSpPr>
        <p:spPr>
          <a:xfrm xmlns:a="http://schemas.openxmlformats.org/drawingml/2006/main">
            <a:off x="11049000" y="6400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FC4"/>
                </a:solidFill>
                <a:latin typeface="Segoe UI"/>
                <a:ea typeface="Segoe UI"/>
                <a:cs typeface="Segoe UI"/>
              </a:defRPr>
            </a:pPr>
            <a:r>
              <a:rPr sz="1350" b="0">
                <a:solidFill>
                  <a:srgbClr val="A7BFC4"/>
                </a:solidFill>
                <a:latin typeface="Segoe UI"/>
                <a:ea typeface="Segoe UI"/>
                <a:cs typeface="Segoe UI"/>
              </a:rPr>
              <a:t>02 / 08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3f945cc6b4648aa"/>
          <a:stretch xmlns:a="http://schemas.openxmlformats.org/drawingml/2006/main"/>
        </p:blipFill>
        <p:spPr>
          <a:xfrm xmlns:a="http://schemas.openxmlformats.org/drawingml/2006/main">
            <a:off x="457200" y="1389459"/>
            <a:ext cx="8267700" cy="4650581"/>
          </a:xfrm>
          <a:prstGeom xmlns:a="http://schemas.openxmlformats.org/drawingml/2006/main" prst="rect">
            <a:avLst/>
          </a:prstGeom>
        </p:spPr>
      </p:pic>
      <p:sp>
        <p:nvSpPr>
          <p:cNvPr id="4" name="A resident writes a message">
            <a:extLst xmlns:a="http://schemas.openxmlformats.org/drawingml/2006/main">
              <a:ext uri="{FF2B5EF4-FFF2-40B4-BE49-F238E27FC236}">
                <a16:creationId xmlns:a16="http://schemas.microsoft.com/office/drawing/2014/main" id="{1AAF7612-73DB-495D-9018-B1E689A56D82}"/>
              </a:ext>
            </a:extLst>
          </p:cNvPr>
          <p:cNvSpPr>
            <a:spLocks xmlns:a="http://schemas.openxmlformats.org/drawingml/2006/main" noGrp="1"/>
          </p:cNvSpPr>
          <p:nvPr/>
        </p:nvSpPr>
        <p:spPr>
          <a:xfrm xmlns:a="http://schemas.openxmlformats.org/drawingml/2006/main">
            <a:off x="9067800" y="1714500"/>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A resident writes a message</a:t>
            </a:r>
          </a:p>
        </p:txBody>
      </p:sp>
      <p:sp>
        <p:nvSpPr>
          <p:cNvPr id="5" name="Staff can add a location">
            <a:extLst xmlns:a="http://schemas.openxmlformats.org/drawingml/2006/main">
              <a:ext uri="{FF2B5EF4-FFF2-40B4-BE49-F238E27FC236}">
                <a16:creationId xmlns:a16="http://schemas.microsoft.com/office/drawing/2014/main" id="{A9ABEB48-4E7A-48EC-B6AE-9FEC6A3599A1}"/>
              </a:ext>
            </a:extLst>
          </p:cNvPr>
          <p:cNvSpPr>
            <a:spLocks xmlns:a="http://schemas.openxmlformats.org/drawingml/2006/main" noGrp="1"/>
          </p:cNvSpPr>
          <p:nvPr/>
        </p:nvSpPr>
        <p:spPr>
          <a:xfrm xmlns:a="http://schemas.openxmlformats.org/drawingml/2006/main">
            <a:off x="9067800" y="2933700"/>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Staff can add a location</a:t>
            </a:r>
          </a:p>
        </p:txBody>
      </p:sp>
      <p:sp>
        <p:nvSpPr>
          <p:cNvPr id="6" name="10 fixed request categories">
            <a:extLst xmlns:a="http://schemas.openxmlformats.org/drawingml/2006/main">
              <a:ext uri="{FF2B5EF4-FFF2-40B4-BE49-F238E27FC236}">
                <a16:creationId xmlns:a16="http://schemas.microsoft.com/office/drawing/2014/main" id="{87352DD7-B4DE-409B-9725-52B3E2DA1E74}"/>
              </a:ext>
            </a:extLst>
          </p:cNvPr>
          <p:cNvSpPr>
            <a:spLocks xmlns:a="http://schemas.openxmlformats.org/drawingml/2006/main" noGrp="1"/>
          </p:cNvSpPr>
          <p:nvPr/>
        </p:nvSpPr>
        <p:spPr>
          <a:xfrm xmlns:a="http://schemas.openxmlformats.org/drawingml/2006/main">
            <a:off x="9067800" y="4152900"/>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10 fixed request categories</a:t>
            </a:r>
          </a:p>
        </p:txBody>
      </p:sp>
      <p:sp>
        <p:nvSpPr>
          <p:cNvPr id="7" name="Actual app screen with a synthetic resident message">
            <a:extLst xmlns:a="http://schemas.openxmlformats.org/drawingml/2006/main">
              <a:ext uri="{FF2B5EF4-FFF2-40B4-BE49-F238E27FC236}">
                <a16:creationId xmlns:a16="http://schemas.microsoft.com/office/drawing/2014/main" id="{A518B206-2D78-453D-B7EC-17C3B5FEED1A}"/>
              </a:ext>
            </a:extLst>
          </p:cNvPr>
          <p:cNvSpPr>
            <a:spLocks xmlns:a="http://schemas.openxmlformats.org/drawingml/2006/main" noGrp="1"/>
          </p:cNvSpPr>
          <p:nvPr/>
        </p:nvSpPr>
        <p:spPr>
          <a:xfrm xmlns:a="http://schemas.openxmlformats.org/drawingml/2006/main">
            <a:off x="457200" y="61341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7BFC4"/>
                </a:solidFill>
                <a:latin typeface="Segoe UI"/>
                <a:ea typeface="Segoe UI"/>
                <a:cs typeface="Segoe UI"/>
              </a:defRPr>
            </a:pPr>
            <a:r>
              <a:rPr sz="1500" b="0">
                <a:solidFill>
                  <a:srgbClr val="A7BFC4"/>
                </a:solidFill>
                <a:latin typeface="Segoe UI"/>
                <a:ea typeface="Segoe UI"/>
                <a:cs typeface="Segoe UI"/>
              </a:rPr>
              <a:t>Actual app screen with a synthetic resident message</a:t>
            </a:r>
          </a:p>
        </p:txBody>
      </p:sp>
    </p:spTree>
    <p:extLst>
      <p:ext uri="{BB962C8B-B14F-4D97-AF65-F5344CB8AC3E}">
        <p14:creationId xmlns:p14="http://schemas.microsoft.com/office/powerpoint/2010/main" val="233903791"/>
      </p:ext>
    </p:extLst>
  </p:cSld>
</p:sld>
</file>

<file path=ppt/slides/slide3.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15" name="Classifier workflow">
            <a:extLst xmlns:a="http://schemas.openxmlformats.org/drawingml/2006/main">
              <a:ext uri="{FF2B5EF4-FFF2-40B4-BE49-F238E27FC236}">
                <a16:creationId xmlns:a16="http://schemas.microsoft.com/office/drawing/2014/main" id="{E394A5E1-6AC3-4741-A37C-8A913FDCF37B}"/>
              </a:ext>
            </a:extLst>
          </p:cNvPr>
          <p:cNvSpPr>
            <a:spLocks xmlns:a="http://schemas.openxmlformats.org/drawingml/2006/main" noGrp="1"/>
          </p:cNvSpPr>
          <p:nvPr/>
        </p:nvSpPr>
        <p:spPr>
          <a:xfrm xmlns:a="http://schemas.openxmlformats.org/drawingml/2006/main">
            <a:off x="457200" y="400050"/>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8F5"/>
                </a:solidFill>
                <a:latin typeface="Segoe UI"/>
                <a:ea typeface="Segoe UI"/>
                <a:cs typeface="Segoe UI"/>
              </a:defRPr>
            </a:pPr>
            <a:r>
              <a:rPr sz="3450" b="1">
                <a:solidFill>
                  <a:srgbClr val="F5F8F5"/>
                </a:solidFill>
                <a:latin typeface="Segoe UI"/>
                <a:ea typeface="Segoe UI"/>
                <a:cs typeface="Segoe UI"/>
              </a:rPr>
              <a:t>Classifier workflow</a:t>
            </a:r>
          </a:p>
        </p:txBody>
      </p:sp>
      <p:sp>
        <p:nvSpPr>
          <p:cNvPr id="2" name="03 / 08">
            <a:extLst xmlns:a="http://schemas.openxmlformats.org/drawingml/2006/main">
              <a:ext uri="{FF2B5EF4-FFF2-40B4-BE49-F238E27FC236}">
                <a16:creationId xmlns:a16="http://schemas.microsoft.com/office/drawing/2014/main" id="{FF2D080B-C2DA-43A0-B23D-DCD7E8C06971}"/>
              </a:ext>
            </a:extLst>
          </p:cNvPr>
          <p:cNvSpPr>
            <a:spLocks xmlns:a="http://schemas.openxmlformats.org/drawingml/2006/main" noGrp="1"/>
          </p:cNvSpPr>
          <p:nvPr/>
        </p:nvSpPr>
        <p:spPr>
          <a:xfrm xmlns:a="http://schemas.openxmlformats.org/drawingml/2006/main">
            <a:off x="11049000" y="6400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FC4"/>
                </a:solidFill>
                <a:latin typeface="Segoe UI"/>
                <a:ea typeface="Segoe UI"/>
                <a:cs typeface="Segoe UI"/>
              </a:defRPr>
            </a:pPr>
            <a:r>
              <a:rPr sz="1350" b="0">
                <a:solidFill>
                  <a:srgbClr val="A7BFC4"/>
                </a:solidFill>
                <a:latin typeface="Segoe UI"/>
                <a:ea typeface="Segoe UI"/>
                <a:cs typeface="Segoe UI"/>
              </a:rPr>
              <a:t>03 / 08</a:t>
            </a:r>
          </a:p>
        </p:txBody>
      </p:sp>
      <p:sp>
        <p:nvSpPr>
          <p:cNvPr id="3" name="01">
            <a:extLst xmlns:a="http://schemas.openxmlformats.org/drawingml/2006/main">
              <a:ext uri="{FF2B5EF4-FFF2-40B4-BE49-F238E27FC236}">
                <a16:creationId xmlns:a16="http://schemas.microsoft.com/office/drawing/2014/main" id="{0118AC85-26A4-458B-8331-A38DEE0262BE}"/>
              </a:ext>
            </a:extLst>
          </p:cNvPr>
          <p:cNvSpPr>
            <a:spLocks xmlns:a="http://schemas.openxmlformats.org/drawingml/2006/main" noGrp="1"/>
          </p:cNvSpPr>
          <p:nvPr/>
        </p:nvSpPr>
        <p:spPr>
          <a:xfrm xmlns:a="http://schemas.openxmlformats.org/drawingml/2006/main">
            <a:off x="495300" y="14287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76E1BD"/>
                </a:solidFill>
                <a:latin typeface="Segoe UI"/>
                <a:ea typeface="Segoe UI"/>
                <a:cs typeface="Segoe UI"/>
              </a:defRPr>
            </a:pPr>
            <a:r>
              <a:rPr sz="2475" b="1">
                <a:solidFill>
                  <a:srgbClr val="76E1BD"/>
                </a:solidFill>
                <a:latin typeface="Segoe UI"/>
                <a:ea typeface="Segoe UI"/>
                <a:cs typeface="Segoe UI"/>
              </a:rPr>
              <a:t>01</a:t>
            </a:r>
          </a:p>
        </p:txBody>
      </p:sp>
      <p:sp>
        <p:nvSpPr>
          <p:cNvPr id="4" name="Resident message">
            <a:extLst xmlns:a="http://schemas.openxmlformats.org/drawingml/2006/main">
              <a:ext uri="{FF2B5EF4-FFF2-40B4-BE49-F238E27FC236}">
                <a16:creationId xmlns:a16="http://schemas.microsoft.com/office/drawing/2014/main" id="{49270355-93BE-4679-82E9-CC8397CBC919}"/>
              </a:ext>
            </a:extLst>
          </p:cNvPr>
          <p:cNvSpPr>
            <a:spLocks xmlns:a="http://schemas.openxmlformats.org/drawingml/2006/main" noGrp="1"/>
          </p:cNvSpPr>
          <p:nvPr/>
        </p:nvSpPr>
        <p:spPr>
          <a:xfrm xmlns:a="http://schemas.openxmlformats.org/drawingml/2006/main">
            <a:off x="1371600" y="14287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5F8F5"/>
                </a:solidFill>
                <a:latin typeface="Segoe UI"/>
                <a:ea typeface="Segoe UI"/>
                <a:cs typeface="Segoe UI"/>
              </a:defRPr>
            </a:pPr>
            <a:r>
              <a:rPr sz="2400" b="1">
                <a:solidFill>
                  <a:srgbClr val="F5F8F5"/>
                </a:solidFill>
                <a:latin typeface="Segoe UI"/>
                <a:ea typeface="Segoe UI"/>
                <a:cs typeface="Segoe UI"/>
              </a:rPr>
              <a:t>Resident message</a:t>
            </a:r>
          </a:p>
        </p:txBody>
      </p:sp>
      <p:sp>
        <p:nvSpPr>
          <p:cNvPr id="5" name="The website passes the request to this project's Classifier.">
            <a:extLst xmlns:a="http://schemas.openxmlformats.org/drawingml/2006/main">
              <a:ext uri="{FF2B5EF4-FFF2-40B4-BE49-F238E27FC236}">
                <a16:creationId xmlns:a16="http://schemas.microsoft.com/office/drawing/2014/main" id="{6F097BAA-9906-421B-8B67-80566829318C}"/>
              </a:ext>
            </a:extLst>
          </p:cNvPr>
          <p:cNvSpPr>
            <a:spLocks xmlns:a="http://schemas.openxmlformats.org/drawingml/2006/main" noGrp="1"/>
          </p:cNvSpPr>
          <p:nvPr/>
        </p:nvSpPr>
        <p:spPr>
          <a:xfrm xmlns:a="http://schemas.openxmlformats.org/drawingml/2006/main">
            <a:off x="1371600" y="1876425"/>
            <a:ext cx="990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7BFC4"/>
                </a:solidFill>
                <a:latin typeface="Segoe UI"/>
                <a:ea typeface="Segoe UI"/>
                <a:cs typeface="Segoe UI"/>
              </a:defRPr>
            </a:pPr>
            <a:r>
              <a:rPr sz="1875" b="0">
                <a:solidFill>
                  <a:srgbClr val="A7BFC4"/>
                </a:solidFill>
                <a:latin typeface="Segoe UI"/>
                <a:ea typeface="Segoe UI"/>
                <a:cs typeface="Segoe UI"/>
              </a:rPr>
              <a:t>The website passes the request to this project's Classifier.</a:t>
            </a:r>
          </a:p>
        </p:txBody>
      </p:sp>
      <p:sp>
        <p:nvSpPr>
          <p:cNvPr id="6" name="02">
            <a:extLst xmlns:a="http://schemas.openxmlformats.org/drawingml/2006/main">
              <a:ext uri="{FF2B5EF4-FFF2-40B4-BE49-F238E27FC236}">
                <a16:creationId xmlns:a16="http://schemas.microsoft.com/office/drawing/2014/main" id="{76B8CA68-0B49-4A57-B6E3-0B33F6303538}"/>
              </a:ext>
            </a:extLst>
          </p:cNvPr>
          <p:cNvSpPr>
            <a:spLocks xmlns:a="http://schemas.openxmlformats.org/drawingml/2006/main" noGrp="1"/>
          </p:cNvSpPr>
          <p:nvPr/>
        </p:nvSpPr>
        <p:spPr>
          <a:xfrm xmlns:a="http://schemas.openxmlformats.org/drawingml/2006/main">
            <a:off x="495300" y="25336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76E1BD"/>
                </a:solidFill>
                <a:latin typeface="Segoe UI"/>
                <a:ea typeface="Segoe UI"/>
                <a:cs typeface="Segoe UI"/>
              </a:defRPr>
            </a:pPr>
            <a:r>
              <a:rPr sz="2475" b="1">
                <a:solidFill>
                  <a:srgbClr val="76E1BD"/>
                </a:solidFill>
                <a:latin typeface="Segoe UI"/>
                <a:ea typeface="Segoe UI"/>
                <a:cs typeface="Segoe UI"/>
              </a:rPr>
              <a:t>02</a:t>
            </a:r>
          </a:p>
        </p:txBody>
      </p:sp>
      <p:sp>
        <p:nvSpPr>
          <p:cNvPr id="7" name="Safety screen">
            <a:extLst xmlns:a="http://schemas.openxmlformats.org/drawingml/2006/main">
              <a:ext uri="{FF2B5EF4-FFF2-40B4-BE49-F238E27FC236}">
                <a16:creationId xmlns:a16="http://schemas.microsoft.com/office/drawing/2014/main" id="{6651CB4C-92DD-4E3C-A0A4-4BAD1941D8B9}"/>
              </a:ext>
            </a:extLst>
          </p:cNvPr>
          <p:cNvSpPr>
            <a:spLocks xmlns:a="http://schemas.openxmlformats.org/drawingml/2006/main" noGrp="1"/>
          </p:cNvSpPr>
          <p:nvPr/>
        </p:nvSpPr>
        <p:spPr>
          <a:xfrm xmlns:a="http://schemas.openxmlformats.org/drawingml/2006/main">
            <a:off x="1371600" y="25336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5F8F5"/>
                </a:solidFill>
                <a:latin typeface="Segoe UI"/>
                <a:ea typeface="Segoe UI"/>
                <a:cs typeface="Segoe UI"/>
              </a:defRPr>
            </a:pPr>
            <a:r>
              <a:rPr sz="2400" b="1">
                <a:solidFill>
                  <a:srgbClr val="F5F8F5"/>
                </a:solidFill>
                <a:latin typeface="Segoe UI"/>
                <a:ea typeface="Segoe UI"/>
                <a:cs typeface="Segoe UI"/>
              </a:rPr>
              <a:t>Safety screen</a:t>
            </a:r>
          </a:p>
        </p:txBody>
      </p:sp>
      <p:sp>
        <p:nvSpPr>
          <p:cNvPr id="8" name="Explicit urgent reports bypass the model and require staff t">
            <a:extLst xmlns:a="http://schemas.openxmlformats.org/drawingml/2006/main">
              <a:ext uri="{FF2B5EF4-FFF2-40B4-BE49-F238E27FC236}">
                <a16:creationId xmlns:a16="http://schemas.microsoft.com/office/drawing/2014/main" id="{077E0A68-05C3-4CF8-8C96-F4C9E80D6FDE}"/>
              </a:ext>
            </a:extLst>
          </p:cNvPr>
          <p:cNvSpPr>
            <a:spLocks xmlns:a="http://schemas.openxmlformats.org/drawingml/2006/main" noGrp="1"/>
          </p:cNvSpPr>
          <p:nvPr/>
        </p:nvSpPr>
        <p:spPr>
          <a:xfrm xmlns:a="http://schemas.openxmlformats.org/drawingml/2006/main">
            <a:off x="1371600" y="2981325"/>
            <a:ext cx="990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7BFC4"/>
                </a:solidFill>
                <a:latin typeface="Segoe UI"/>
                <a:ea typeface="Segoe UI"/>
                <a:cs typeface="Segoe UI"/>
              </a:defRPr>
            </a:pPr>
            <a:r>
              <a:rPr sz="1875" b="0">
                <a:solidFill>
                  <a:srgbClr val="A7BFC4"/>
                </a:solidFill>
                <a:latin typeface="Segoe UI"/>
                <a:ea typeface="Segoe UI"/>
                <a:cs typeface="Segoe UI"/>
              </a:rPr>
              <a:t>Explicit urgent reports bypass the model and require staff triage.</a:t>
            </a:r>
          </a:p>
        </p:txBody>
      </p:sp>
      <p:sp>
        <p:nvSpPr>
          <p:cNvPr id="9" name="03">
            <a:extLst xmlns:a="http://schemas.openxmlformats.org/drawingml/2006/main">
              <a:ext uri="{FF2B5EF4-FFF2-40B4-BE49-F238E27FC236}">
                <a16:creationId xmlns:a16="http://schemas.microsoft.com/office/drawing/2014/main" id="{B9832E18-5739-4206-9BB1-9477739451DF}"/>
              </a:ext>
            </a:extLst>
          </p:cNvPr>
          <p:cNvSpPr>
            <a:spLocks xmlns:a="http://schemas.openxmlformats.org/drawingml/2006/main" noGrp="1"/>
          </p:cNvSpPr>
          <p:nvPr/>
        </p:nvSpPr>
        <p:spPr>
          <a:xfrm xmlns:a="http://schemas.openxmlformats.org/drawingml/2006/main">
            <a:off x="495300" y="36385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76E1BD"/>
                </a:solidFill>
                <a:latin typeface="Segoe UI"/>
                <a:ea typeface="Segoe UI"/>
                <a:cs typeface="Segoe UI"/>
              </a:defRPr>
            </a:pPr>
            <a:r>
              <a:rPr sz="2475" b="1">
                <a:solidFill>
                  <a:srgbClr val="76E1BD"/>
                </a:solidFill>
                <a:latin typeface="Segoe UI"/>
                <a:ea typeface="Segoe UI"/>
                <a:cs typeface="Segoe UI"/>
              </a:rPr>
              <a:t>03</a:t>
            </a:r>
          </a:p>
        </p:txBody>
      </p:sp>
      <p:sp>
        <p:nvSpPr>
          <p:cNvPr id="10" name="Selected classifier">
            <a:extLst xmlns:a="http://schemas.openxmlformats.org/drawingml/2006/main">
              <a:ext uri="{FF2B5EF4-FFF2-40B4-BE49-F238E27FC236}">
                <a16:creationId xmlns:a16="http://schemas.microsoft.com/office/drawing/2014/main" id="{FB2A98BE-6477-4FDD-B9FC-9072276AA58C}"/>
              </a:ext>
            </a:extLst>
          </p:cNvPr>
          <p:cNvSpPr>
            <a:spLocks xmlns:a="http://schemas.openxmlformats.org/drawingml/2006/main" noGrp="1"/>
          </p:cNvSpPr>
          <p:nvPr/>
        </p:nvSpPr>
        <p:spPr>
          <a:xfrm xmlns:a="http://schemas.openxmlformats.org/drawingml/2006/main">
            <a:off x="1371600" y="36385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5F8F5"/>
                </a:solidFill>
                <a:latin typeface="Segoe UI"/>
                <a:ea typeface="Segoe UI"/>
                <a:cs typeface="Segoe UI"/>
              </a:defRPr>
            </a:pPr>
            <a:r>
              <a:rPr sz="2400" b="1">
                <a:solidFill>
                  <a:srgbClr val="F5F8F5"/>
                </a:solidFill>
                <a:latin typeface="Segoe UI"/>
                <a:ea typeface="Segoe UI"/>
                <a:cs typeface="Segoe UI"/>
              </a:rPr>
              <a:t>Selected classifier</a:t>
            </a:r>
          </a:p>
        </p:txBody>
      </p:sp>
      <p:sp>
        <p:nvSpPr>
          <p:cNvPr id="11" name="Offline TF-IDF baseline or local Gemma through Ollama.">
            <a:extLst xmlns:a="http://schemas.openxmlformats.org/drawingml/2006/main">
              <a:ext uri="{FF2B5EF4-FFF2-40B4-BE49-F238E27FC236}">
                <a16:creationId xmlns:a16="http://schemas.microsoft.com/office/drawing/2014/main" id="{3512A540-7423-45D6-BEC0-F8598EBB4597}"/>
              </a:ext>
            </a:extLst>
          </p:cNvPr>
          <p:cNvSpPr>
            <a:spLocks xmlns:a="http://schemas.openxmlformats.org/drawingml/2006/main" noGrp="1"/>
          </p:cNvSpPr>
          <p:nvPr/>
        </p:nvSpPr>
        <p:spPr>
          <a:xfrm xmlns:a="http://schemas.openxmlformats.org/drawingml/2006/main">
            <a:off x="1371600" y="4086225"/>
            <a:ext cx="990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7BFC4"/>
                </a:solidFill>
                <a:latin typeface="Segoe UI"/>
                <a:ea typeface="Segoe UI"/>
                <a:cs typeface="Segoe UI"/>
              </a:defRPr>
            </a:pPr>
            <a:r>
              <a:rPr sz="1875" b="0">
                <a:solidFill>
                  <a:srgbClr val="A7BFC4"/>
                </a:solidFill>
                <a:latin typeface="Segoe UI"/>
                <a:ea typeface="Segoe UI"/>
                <a:cs typeface="Segoe UI"/>
              </a:rPr>
              <a:t>Offline TF-IDF baseline or local Gemma through Ollama.</a:t>
            </a:r>
          </a:p>
        </p:txBody>
      </p:sp>
      <p:sp>
        <p:nvSpPr>
          <p:cNvPr id="12" name="04">
            <a:extLst xmlns:a="http://schemas.openxmlformats.org/drawingml/2006/main">
              <a:ext uri="{FF2B5EF4-FFF2-40B4-BE49-F238E27FC236}">
                <a16:creationId xmlns:a16="http://schemas.microsoft.com/office/drawing/2014/main" id="{54410040-0B6A-4544-8B18-F312EEC19C7E}"/>
              </a:ext>
            </a:extLst>
          </p:cNvPr>
          <p:cNvSpPr>
            <a:spLocks xmlns:a="http://schemas.openxmlformats.org/drawingml/2006/main" noGrp="1"/>
          </p:cNvSpPr>
          <p:nvPr/>
        </p:nvSpPr>
        <p:spPr>
          <a:xfrm xmlns:a="http://schemas.openxmlformats.org/drawingml/2006/main">
            <a:off x="495300" y="47434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76E1BD"/>
                </a:solidFill>
                <a:latin typeface="Segoe UI"/>
                <a:ea typeface="Segoe UI"/>
                <a:cs typeface="Segoe UI"/>
              </a:defRPr>
            </a:pPr>
            <a:r>
              <a:rPr sz="2475" b="1">
                <a:solidFill>
                  <a:srgbClr val="76E1BD"/>
                </a:solidFill>
                <a:latin typeface="Segoe UI"/>
                <a:ea typeface="Segoe UI"/>
                <a:cs typeface="Segoe UI"/>
              </a:rPr>
              <a:t>04</a:t>
            </a:r>
          </a:p>
        </p:txBody>
      </p:sp>
      <p:sp>
        <p:nvSpPr>
          <p:cNvPr id="13" name="Validation and review">
            <a:extLst xmlns:a="http://schemas.openxmlformats.org/drawingml/2006/main">
              <a:ext uri="{FF2B5EF4-FFF2-40B4-BE49-F238E27FC236}">
                <a16:creationId xmlns:a16="http://schemas.microsoft.com/office/drawing/2014/main" id="{2C3566CF-6B0C-452F-8754-93B2F90AE97C}"/>
              </a:ext>
            </a:extLst>
          </p:cNvPr>
          <p:cNvSpPr>
            <a:spLocks xmlns:a="http://schemas.openxmlformats.org/drawingml/2006/main" noGrp="1"/>
          </p:cNvSpPr>
          <p:nvPr/>
        </p:nvSpPr>
        <p:spPr>
          <a:xfrm xmlns:a="http://schemas.openxmlformats.org/drawingml/2006/main">
            <a:off x="1371600" y="47434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5F8F5"/>
                </a:solidFill>
                <a:latin typeface="Segoe UI"/>
                <a:ea typeface="Segoe UI"/>
                <a:cs typeface="Segoe UI"/>
              </a:defRPr>
            </a:pPr>
            <a:r>
              <a:rPr sz="2400" b="1">
                <a:solidFill>
                  <a:srgbClr val="F5F8F5"/>
                </a:solidFill>
                <a:latin typeface="Segoe UI"/>
                <a:ea typeface="Segoe UI"/>
                <a:cs typeface="Segoe UI"/>
              </a:rPr>
              <a:t>Validation and review</a:t>
            </a:r>
          </a:p>
        </p:txBody>
      </p:sp>
      <p:sp>
        <p:nvSpPr>
          <p:cNvPr id="14" name="Staff inspect the category, priority, evidence and suggested">
            <a:extLst xmlns:a="http://schemas.openxmlformats.org/drawingml/2006/main">
              <a:ext uri="{FF2B5EF4-FFF2-40B4-BE49-F238E27FC236}">
                <a16:creationId xmlns:a16="http://schemas.microsoft.com/office/drawing/2014/main" id="{BE063D68-A2EE-4868-9F11-115290D803BA}"/>
              </a:ext>
            </a:extLst>
          </p:cNvPr>
          <p:cNvSpPr>
            <a:spLocks xmlns:a="http://schemas.openxmlformats.org/drawingml/2006/main" noGrp="1"/>
          </p:cNvSpPr>
          <p:nvPr/>
        </p:nvSpPr>
        <p:spPr>
          <a:xfrm xmlns:a="http://schemas.openxmlformats.org/drawingml/2006/main">
            <a:off x="1371600" y="5191125"/>
            <a:ext cx="990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7BFC4"/>
                </a:solidFill>
                <a:latin typeface="Segoe UI"/>
                <a:ea typeface="Segoe UI"/>
                <a:cs typeface="Segoe UI"/>
              </a:defRPr>
            </a:pPr>
            <a:r>
              <a:rPr sz="1875" b="0">
                <a:solidFill>
                  <a:srgbClr val="A7BFC4"/>
                </a:solidFill>
                <a:latin typeface="Segoe UI"/>
                <a:ea typeface="Segoe UI"/>
                <a:cs typeface="Segoe UI"/>
              </a:rPr>
              <a:t>Staff inspect the category, priority, evidence and suggested team.</a:t>
            </a:r>
          </a:p>
        </p:txBody>
      </p:sp>
    </p:spTree>
    <p:extLst>
      <p:ext uri="{BB962C8B-B14F-4D97-AF65-F5344CB8AC3E}">
        <p14:creationId xmlns:p14="http://schemas.microsoft.com/office/powerpoint/2010/main" val="1330756387"/>
      </p:ext>
    </p:extLst>
  </p:cSld>
</p:sld>
</file>

<file path=ppt/slides/slide4.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8" name="Structured classification">
            <a:extLst xmlns:a="http://schemas.openxmlformats.org/drawingml/2006/main">
              <a:ext uri="{FF2B5EF4-FFF2-40B4-BE49-F238E27FC236}">
                <a16:creationId xmlns:a16="http://schemas.microsoft.com/office/drawing/2014/main" id="{C98C1EC8-1B3A-43F3-8822-BEBC60B8D231}"/>
              </a:ext>
            </a:extLst>
          </p:cNvPr>
          <p:cNvSpPr>
            <a:spLocks xmlns:a="http://schemas.openxmlformats.org/drawingml/2006/main" noGrp="1"/>
          </p:cNvSpPr>
          <p:nvPr/>
        </p:nvSpPr>
        <p:spPr>
          <a:xfrm xmlns:a="http://schemas.openxmlformats.org/drawingml/2006/main">
            <a:off x="457200" y="400050"/>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8F5"/>
                </a:solidFill>
                <a:latin typeface="Segoe UI"/>
                <a:ea typeface="Segoe UI"/>
                <a:cs typeface="Segoe UI"/>
              </a:defRPr>
            </a:pPr>
            <a:r>
              <a:rPr sz="3450" b="1">
                <a:solidFill>
                  <a:srgbClr val="F5F8F5"/>
                </a:solidFill>
                <a:latin typeface="Segoe UI"/>
                <a:ea typeface="Segoe UI"/>
                <a:cs typeface="Segoe UI"/>
              </a:rPr>
              <a:t>Structured classification</a:t>
            </a:r>
          </a:p>
        </p:txBody>
      </p:sp>
      <p:sp>
        <p:nvSpPr>
          <p:cNvPr id="2" name="04 / 08">
            <a:extLst xmlns:a="http://schemas.openxmlformats.org/drawingml/2006/main">
              <a:ext uri="{FF2B5EF4-FFF2-40B4-BE49-F238E27FC236}">
                <a16:creationId xmlns:a16="http://schemas.microsoft.com/office/drawing/2014/main" id="{26F9E1A5-0945-4044-ADC9-78BA54E7EC7B}"/>
              </a:ext>
            </a:extLst>
          </p:cNvPr>
          <p:cNvSpPr>
            <a:spLocks xmlns:a="http://schemas.openxmlformats.org/drawingml/2006/main" noGrp="1"/>
          </p:cNvSpPr>
          <p:nvPr/>
        </p:nvSpPr>
        <p:spPr>
          <a:xfrm xmlns:a="http://schemas.openxmlformats.org/drawingml/2006/main">
            <a:off x="11049000" y="6400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FC4"/>
                </a:solidFill>
                <a:latin typeface="Segoe UI"/>
                <a:ea typeface="Segoe UI"/>
                <a:cs typeface="Segoe UI"/>
              </a:defRPr>
            </a:pPr>
            <a:r>
              <a:rPr sz="1350" b="0">
                <a:solidFill>
                  <a:srgbClr val="A7BFC4"/>
                </a:solidFill>
                <a:latin typeface="Segoe UI"/>
                <a:ea typeface="Segoe UI"/>
                <a:cs typeface="Segoe UI"/>
              </a:rPr>
              <a:t>04 / 08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9a5f01924164fa3"/>
          <a:stretch xmlns:a="http://schemas.openxmlformats.org/drawingml/2006/main"/>
        </p:blipFill>
        <p:spPr>
          <a:xfrm xmlns:a="http://schemas.openxmlformats.org/drawingml/2006/main">
            <a:off x="457200" y="1389459"/>
            <a:ext cx="8267700" cy="4650581"/>
          </a:xfrm>
          <a:prstGeom xmlns:a="http://schemas.openxmlformats.org/drawingml/2006/main" prst="rect">
            <a:avLst/>
          </a:prstGeom>
        </p:spPr>
      </p:pic>
      <p:sp>
        <p:nvSpPr>
          <p:cNvPr id="4" name="Category: Maintenance">
            <a:extLst xmlns:a="http://schemas.openxmlformats.org/drawingml/2006/main">
              <a:ext uri="{FF2B5EF4-FFF2-40B4-BE49-F238E27FC236}">
                <a16:creationId xmlns:a16="http://schemas.microsoft.com/office/drawing/2014/main" id="{F64C30D1-731B-4AD6-B452-B5B4D3D85492}"/>
              </a:ext>
            </a:extLst>
          </p:cNvPr>
          <p:cNvSpPr>
            <a:spLocks xmlns:a="http://schemas.openxmlformats.org/drawingml/2006/main" noGrp="1"/>
          </p:cNvSpPr>
          <p:nvPr/>
        </p:nvSpPr>
        <p:spPr>
          <a:xfrm xmlns:a="http://schemas.openxmlformats.org/drawingml/2006/main">
            <a:off x="9067800" y="1809750"/>
            <a:ext cx="2619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Category: Maintenance</a:t>
            </a:r>
          </a:p>
        </p:txBody>
      </p:sp>
      <p:sp>
        <p:nvSpPr>
          <p:cNvPr id="5" name="Priority: Normal">
            <a:extLst xmlns:a="http://schemas.openxmlformats.org/drawingml/2006/main">
              <a:ext uri="{FF2B5EF4-FFF2-40B4-BE49-F238E27FC236}">
                <a16:creationId xmlns:a16="http://schemas.microsoft.com/office/drawing/2014/main" id="{ACCF1BFC-CC9B-476B-A949-4CD03C2704E2}"/>
              </a:ext>
            </a:extLst>
          </p:cNvPr>
          <p:cNvSpPr>
            <a:spLocks xmlns:a="http://schemas.openxmlformats.org/drawingml/2006/main" noGrp="1"/>
          </p:cNvSpPr>
          <p:nvPr/>
        </p:nvSpPr>
        <p:spPr>
          <a:xfrm xmlns:a="http://schemas.openxmlformats.org/drawingml/2006/main">
            <a:off x="9067800" y="2886075"/>
            <a:ext cx="2619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Priority: Normal</a:t>
            </a:r>
          </a:p>
        </p:txBody>
      </p:sp>
      <p:sp>
        <p:nvSpPr>
          <p:cNvPr id="6" name="Suggested team: Maintenance">
            <a:extLst xmlns:a="http://schemas.openxmlformats.org/drawingml/2006/main">
              <a:ext uri="{FF2B5EF4-FFF2-40B4-BE49-F238E27FC236}">
                <a16:creationId xmlns:a16="http://schemas.microsoft.com/office/drawing/2014/main" id="{EA397D46-F3C9-4A34-AE6B-F44C2488CBDE}"/>
              </a:ext>
            </a:extLst>
          </p:cNvPr>
          <p:cNvSpPr>
            <a:spLocks xmlns:a="http://schemas.openxmlformats.org/drawingml/2006/main" noGrp="1"/>
          </p:cNvSpPr>
          <p:nvPr/>
        </p:nvSpPr>
        <p:spPr>
          <a:xfrm xmlns:a="http://schemas.openxmlformats.org/drawingml/2006/main">
            <a:off x="9067800" y="3962400"/>
            <a:ext cx="2619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Suggested team: Maintenance</a:t>
            </a:r>
          </a:p>
        </p:txBody>
      </p:sp>
      <p:sp>
        <p:nvSpPr>
          <p:cNvPr id="7" name="Uncertain requests remain visible for staff review">
            <a:extLst xmlns:a="http://schemas.openxmlformats.org/drawingml/2006/main">
              <a:ext uri="{FF2B5EF4-FFF2-40B4-BE49-F238E27FC236}">
                <a16:creationId xmlns:a16="http://schemas.microsoft.com/office/drawing/2014/main" id="{5522197E-0222-46BC-8AE8-796917C94E39}"/>
              </a:ext>
            </a:extLst>
          </p:cNvPr>
          <p:cNvSpPr>
            <a:spLocks xmlns:a="http://schemas.openxmlformats.org/drawingml/2006/main" noGrp="1"/>
          </p:cNvSpPr>
          <p:nvPr/>
        </p:nvSpPr>
        <p:spPr>
          <a:xfrm xmlns:a="http://schemas.openxmlformats.org/drawingml/2006/main">
            <a:off x="457200" y="61341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7BFC4"/>
                </a:solidFill>
                <a:latin typeface="Segoe UI"/>
                <a:ea typeface="Segoe UI"/>
                <a:cs typeface="Segoe UI"/>
              </a:defRPr>
            </a:pPr>
            <a:r>
              <a:rPr sz="1500" b="0">
                <a:solidFill>
                  <a:srgbClr val="A7BFC4"/>
                </a:solidFill>
                <a:latin typeface="Segoe UI"/>
                <a:ea typeface="Segoe UI"/>
                <a:cs typeface="Segoe UI"/>
              </a:rPr>
              <a:t>Uncertain requests remain visible for staff review</a:t>
            </a:r>
          </a:p>
        </p:txBody>
      </p:sp>
    </p:spTree>
    <p:extLst>
      <p:ext uri="{BB962C8B-B14F-4D97-AF65-F5344CB8AC3E}">
        <p14:creationId xmlns:p14="http://schemas.microsoft.com/office/powerpoint/2010/main" val="1211863316"/>
      </p:ext>
    </p:extLst>
  </p:cSld>
</p:sld>
</file>

<file path=ppt/slides/slide5.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8" name="Urgent reports and human review">
            <a:extLst xmlns:a="http://schemas.openxmlformats.org/drawingml/2006/main">
              <a:ext uri="{FF2B5EF4-FFF2-40B4-BE49-F238E27FC236}">
                <a16:creationId xmlns:a16="http://schemas.microsoft.com/office/drawing/2014/main" id="{2B42B41D-897E-4389-89CB-A88E2A30B635}"/>
              </a:ext>
            </a:extLst>
          </p:cNvPr>
          <p:cNvSpPr>
            <a:spLocks xmlns:a="http://schemas.openxmlformats.org/drawingml/2006/main" noGrp="1"/>
          </p:cNvSpPr>
          <p:nvPr/>
        </p:nvSpPr>
        <p:spPr>
          <a:xfrm xmlns:a="http://schemas.openxmlformats.org/drawingml/2006/main">
            <a:off x="457200" y="400050"/>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8F5"/>
                </a:solidFill>
                <a:latin typeface="Segoe UI"/>
                <a:ea typeface="Segoe UI"/>
                <a:cs typeface="Segoe UI"/>
              </a:defRPr>
            </a:pPr>
            <a:r>
              <a:rPr sz="3450" b="1">
                <a:solidFill>
                  <a:srgbClr val="F5F8F5"/>
                </a:solidFill>
                <a:latin typeface="Segoe UI"/>
                <a:ea typeface="Segoe UI"/>
                <a:cs typeface="Segoe UI"/>
              </a:rPr>
              <a:t>Urgent reports and human review</a:t>
            </a:r>
          </a:p>
        </p:txBody>
      </p:sp>
      <p:sp>
        <p:nvSpPr>
          <p:cNvPr id="2" name="05 / 08">
            <a:extLst xmlns:a="http://schemas.openxmlformats.org/drawingml/2006/main">
              <a:ext uri="{FF2B5EF4-FFF2-40B4-BE49-F238E27FC236}">
                <a16:creationId xmlns:a16="http://schemas.microsoft.com/office/drawing/2014/main" id="{E05D9997-9722-47EE-8A2C-18ACC8503E54}"/>
              </a:ext>
            </a:extLst>
          </p:cNvPr>
          <p:cNvSpPr>
            <a:spLocks xmlns:a="http://schemas.openxmlformats.org/drawingml/2006/main" noGrp="1"/>
          </p:cNvSpPr>
          <p:nvPr/>
        </p:nvSpPr>
        <p:spPr>
          <a:xfrm xmlns:a="http://schemas.openxmlformats.org/drawingml/2006/main">
            <a:off x="11049000" y="6400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FC4"/>
                </a:solidFill>
                <a:latin typeface="Segoe UI"/>
                <a:ea typeface="Segoe UI"/>
                <a:cs typeface="Segoe UI"/>
              </a:defRPr>
            </a:pPr>
            <a:r>
              <a:rPr sz="1350" b="0">
                <a:solidFill>
                  <a:srgbClr val="A7BFC4"/>
                </a:solidFill>
                <a:latin typeface="Segoe UI"/>
                <a:ea typeface="Segoe UI"/>
                <a:cs typeface="Segoe UI"/>
              </a:rPr>
              <a:t>05 / 08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1d9fd3772fb4238"/>
          <a:stretch xmlns:a="http://schemas.openxmlformats.org/drawingml/2006/main"/>
        </p:blipFill>
        <p:spPr>
          <a:xfrm xmlns:a="http://schemas.openxmlformats.org/drawingml/2006/main">
            <a:off x="457200" y="1389459"/>
            <a:ext cx="8267700" cy="4650581"/>
          </a:xfrm>
          <a:prstGeom xmlns:a="http://schemas.openxmlformats.org/drawingml/2006/main" prst="rect">
            <a:avLst/>
          </a:prstGeom>
        </p:spPr>
      </p:pic>
      <p:sp>
        <p:nvSpPr>
          <p:cNvPr id="4" name="Emergency rules run first">
            <a:extLst xmlns:a="http://schemas.openxmlformats.org/drawingml/2006/main">
              <a:ext uri="{FF2B5EF4-FFF2-40B4-BE49-F238E27FC236}">
                <a16:creationId xmlns:a16="http://schemas.microsoft.com/office/drawing/2014/main" id="{DC97735A-4132-442A-8177-2AC97DE56413}"/>
              </a:ext>
            </a:extLst>
          </p:cNvPr>
          <p:cNvSpPr>
            <a:spLocks xmlns:a="http://schemas.openxmlformats.org/drawingml/2006/main" noGrp="1"/>
          </p:cNvSpPr>
          <p:nvPr/>
        </p:nvSpPr>
        <p:spPr>
          <a:xfrm xmlns:a="http://schemas.openxmlformats.org/drawingml/2006/main">
            <a:off x="9067800" y="1714500"/>
            <a:ext cx="26098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Emergency rules run first</a:t>
            </a:r>
          </a:p>
        </p:txBody>
      </p:sp>
      <p:sp>
        <p:nvSpPr>
          <p:cNvPr id="5" name="Staff confirm every Gemma result">
            <a:extLst xmlns:a="http://schemas.openxmlformats.org/drawingml/2006/main">
              <a:ext uri="{FF2B5EF4-FFF2-40B4-BE49-F238E27FC236}">
                <a16:creationId xmlns:a16="http://schemas.microsoft.com/office/drawing/2014/main" id="{CDA970DB-65F6-4DB6-8CB3-35B5335E2D59}"/>
              </a:ext>
            </a:extLst>
          </p:cNvPr>
          <p:cNvSpPr>
            <a:spLocks xmlns:a="http://schemas.openxmlformats.org/drawingml/2006/main" noGrp="1"/>
          </p:cNvSpPr>
          <p:nvPr/>
        </p:nvSpPr>
        <p:spPr>
          <a:xfrm xmlns:a="http://schemas.openxmlformats.org/drawingml/2006/main">
            <a:off x="9067800" y="2914650"/>
            <a:ext cx="26098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Staff confirm every Gemma result</a:t>
            </a:r>
          </a:p>
        </p:txBody>
      </p:sp>
      <p:sp>
        <p:nvSpPr>
          <p:cNvPr id="6" name="The app flags urgency. People act.">
            <a:extLst xmlns:a="http://schemas.openxmlformats.org/drawingml/2006/main">
              <a:ext uri="{FF2B5EF4-FFF2-40B4-BE49-F238E27FC236}">
                <a16:creationId xmlns:a16="http://schemas.microsoft.com/office/drawing/2014/main" id="{FA2F3127-A57D-4EFE-8807-FA2BB2BD6864}"/>
              </a:ext>
            </a:extLst>
          </p:cNvPr>
          <p:cNvSpPr>
            <a:spLocks xmlns:a="http://schemas.openxmlformats.org/drawingml/2006/main" noGrp="1"/>
          </p:cNvSpPr>
          <p:nvPr/>
        </p:nvSpPr>
        <p:spPr>
          <a:xfrm xmlns:a="http://schemas.openxmlformats.org/drawingml/2006/main">
            <a:off x="9067800" y="4114800"/>
            <a:ext cx="26098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The app flags urgency. People act.</a:t>
            </a:r>
          </a:p>
        </p:txBody>
      </p:sp>
      <p:sp>
        <p:nvSpPr>
          <p:cNvPr id="7" name="No emergency dispatch or automatic ticket creation">
            <a:extLst xmlns:a="http://schemas.openxmlformats.org/drawingml/2006/main">
              <a:ext uri="{FF2B5EF4-FFF2-40B4-BE49-F238E27FC236}">
                <a16:creationId xmlns:a16="http://schemas.microsoft.com/office/drawing/2014/main" id="{B539200E-1148-4C30-89FD-BC798D6BB578}"/>
              </a:ext>
            </a:extLst>
          </p:cNvPr>
          <p:cNvSpPr>
            <a:spLocks xmlns:a="http://schemas.openxmlformats.org/drawingml/2006/main" noGrp="1"/>
          </p:cNvSpPr>
          <p:nvPr/>
        </p:nvSpPr>
        <p:spPr>
          <a:xfrm xmlns:a="http://schemas.openxmlformats.org/drawingml/2006/main">
            <a:off x="457200" y="61341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7BFC4"/>
                </a:solidFill>
                <a:latin typeface="Segoe UI"/>
                <a:ea typeface="Segoe UI"/>
                <a:cs typeface="Segoe UI"/>
              </a:defRPr>
            </a:pPr>
            <a:r>
              <a:rPr sz="1500" b="0">
                <a:solidFill>
                  <a:srgbClr val="A7BFC4"/>
                </a:solidFill>
                <a:latin typeface="Segoe UI"/>
                <a:ea typeface="Segoe UI"/>
                <a:cs typeface="Segoe UI"/>
              </a:rPr>
              <a:t>No emergency dispatch or automatic ticket creation</a:t>
            </a:r>
          </a:p>
        </p:txBody>
      </p:sp>
    </p:spTree>
    <p:extLst>
      <p:ext uri="{BB962C8B-B14F-4D97-AF65-F5344CB8AC3E}">
        <p14:creationId xmlns:p14="http://schemas.microsoft.com/office/powerpoint/2010/main" val="1288317846"/>
      </p:ext>
    </p:extLst>
  </p:cSld>
</p:sld>
</file>

<file path=ppt/slides/slide6.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8" name="Batch review">
            <a:extLst xmlns:a="http://schemas.openxmlformats.org/drawingml/2006/main">
              <a:ext uri="{FF2B5EF4-FFF2-40B4-BE49-F238E27FC236}">
                <a16:creationId xmlns:a16="http://schemas.microsoft.com/office/drawing/2014/main" id="{07F8BECB-C536-4DE2-A8A2-EC7C1556D96D}"/>
              </a:ext>
            </a:extLst>
          </p:cNvPr>
          <p:cNvSpPr>
            <a:spLocks xmlns:a="http://schemas.openxmlformats.org/drawingml/2006/main" noGrp="1"/>
          </p:cNvSpPr>
          <p:nvPr/>
        </p:nvSpPr>
        <p:spPr>
          <a:xfrm xmlns:a="http://schemas.openxmlformats.org/drawingml/2006/main">
            <a:off x="457200" y="400050"/>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8F5"/>
                </a:solidFill>
                <a:latin typeface="Segoe UI"/>
                <a:ea typeface="Segoe UI"/>
                <a:cs typeface="Segoe UI"/>
              </a:defRPr>
            </a:pPr>
            <a:r>
              <a:rPr sz="3450" b="1">
                <a:solidFill>
                  <a:srgbClr val="F5F8F5"/>
                </a:solidFill>
                <a:latin typeface="Segoe UI"/>
                <a:ea typeface="Segoe UI"/>
                <a:cs typeface="Segoe UI"/>
              </a:rPr>
              <a:t>Batch review</a:t>
            </a:r>
          </a:p>
        </p:txBody>
      </p:sp>
      <p:sp>
        <p:nvSpPr>
          <p:cNvPr id="2" name="06 / 08">
            <a:extLst xmlns:a="http://schemas.openxmlformats.org/drawingml/2006/main">
              <a:ext uri="{FF2B5EF4-FFF2-40B4-BE49-F238E27FC236}">
                <a16:creationId xmlns:a16="http://schemas.microsoft.com/office/drawing/2014/main" id="{6C7AA95E-E765-4D50-B0FC-9697D4BFDB93}"/>
              </a:ext>
            </a:extLst>
          </p:cNvPr>
          <p:cNvSpPr>
            <a:spLocks xmlns:a="http://schemas.openxmlformats.org/drawingml/2006/main" noGrp="1"/>
          </p:cNvSpPr>
          <p:nvPr/>
        </p:nvSpPr>
        <p:spPr>
          <a:xfrm xmlns:a="http://schemas.openxmlformats.org/drawingml/2006/main">
            <a:off x="11049000" y="6400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FC4"/>
                </a:solidFill>
                <a:latin typeface="Segoe UI"/>
                <a:ea typeface="Segoe UI"/>
                <a:cs typeface="Segoe UI"/>
              </a:defRPr>
            </a:pPr>
            <a:r>
              <a:rPr sz="1350" b="0">
                <a:solidFill>
                  <a:srgbClr val="A7BFC4"/>
                </a:solidFill>
                <a:latin typeface="Segoe UI"/>
                <a:ea typeface="Segoe UI"/>
                <a:cs typeface="Segoe UI"/>
              </a:rPr>
              <a:t>06 / 08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7c226110a7944f6"/>
          <a:stretch xmlns:a="http://schemas.openxmlformats.org/drawingml/2006/main"/>
        </p:blipFill>
        <p:spPr>
          <a:xfrm xmlns:a="http://schemas.openxmlformats.org/drawingml/2006/main">
            <a:off x="457200" y="1389459"/>
            <a:ext cx="8267700" cy="4650581"/>
          </a:xfrm>
          <a:prstGeom xmlns:a="http://schemas.openxmlformats.org/drawingml/2006/main" prst="rect">
            <a:avLst/>
          </a:prstGeom>
        </p:spPr>
      </p:pic>
      <p:sp>
        <p:nvSpPr>
          <p:cNvPr id="4" name="Upload a CSV inbox">
            <a:extLst xmlns:a="http://schemas.openxmlformats.org/drawingml/2006/main">
              <a:ext uri="{FF2B5EF4-FFF2-40B4-BE49-F238E27FC236}">
                <a16:creationId xmlns:a16="http://schemas.microsoft.com/office/drawing/2014/main" id="{443DBB77-4E3C-4D7C-ABF8-721AD2BEA90D}"/>
              </a:ext>
            </a:extLst>
          </p:cNvPr>
          <p:cNvSpPr>
            <a:spLocks xmlns:a="http://schemas.openxmlformats.org/drawingml/2006/main" noGrp="1"/>
          </p:cNvSpPr>
          <p:nvPr/>
        </p:nvSpPr>
        <p:spPr>
          <a:xfrm xmlns:a="http://schemas.openxmlformats.org/drawingml/2006/main">
            <a:off x="9067800" y="1714500"/>
            <a:ext cx="26289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Upload a CSV inbox</a:t>
            </a:r>
          </a:p>
        </p:txBody>
      </p:sp>
      <p:sp>
        <p:nvSpPr>
          <p:cNvPr id="5" name="Inspect each request and its status">
            <a:extLst xmlns:a="http://schemas.openxmlformats.org/drawingml/2006/main">
              <a:ext uri="{FF2B5EF4-FFF2-40B4-BE49-F238E27FC236}">
                <a16:creationId xmlns:a16="http://schemas.microsoft.com/office/drawing/2014/main" id="{25765E91-0B9D-4D23-B395-1D5B774CCE74}"/>
              </a:ext>
            </a:extLst>
          </p:cNvPr>
          <p:cNvSpPr>
            <a:spLocks xmlns:a="http://schemas.openxmlformats.org/drawingml/2006/main" noGrp="1"/>
          </p:cNvSpPr>
          <p:nvPr/>
        </p:nvSpPr>
        <p:spPr>
          <a:xfrm xmlns:a="http://schemas.openxmlformats.org/drawingml/2006/main">
            <a:off x="9067800" y="2933700"/>
            <a:ext cx="26289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Inspect each request and its status</a:t>
            </a:r>
          </a:p>
        </p:txBody>
      </p:sp>
      <p:sp>
        <p:nvSpPr>
          <p:cNvPr id="6" name="Export the classification results">
            <a:extLst xmlns:a="http://schemas.openxmlformats.org/drawingml/2006/main">
              <a:ext uri="{FF2B5EF4-FFF2-40B4-BE49-F238E27FC236}">
                <a16:creationId xmlns:a16="http://schemas.microsoft.com/office/drawing/2014/main" id="{CE15AFEA-5C1B-4D24-89E5-C604794C259A}"/>
              </a:ext>
            </a:extLst>
          </p:cNvPr>
          <p:cNvSpPr>
            <a:spLocks xmlns:a="http://schemas.openxmlformats.org/drawingml/2006/main" noGrp="1"/>
          </p:cNvSpPr>
          <p:nvPr/>
        </p:nvSpPr>
        <p:spPr>
          <a:xfrm xmlns:a="http://schemas.openxmlformats.org/drawingml/2006/main">
            <a:off x="9067800" y="4152900"/>
            <a:ext cx="26289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8F5"/>
                </a:solidFill>
                <a:latin typeface="Segoe UI"/>
                <a:ea typeface="Segoe UI"/>
                <a:cs typeface="Segoe UI"/>
              </a:defRPr>
            </a:pPr>
            <a:r>
              <a:rPr sz="2025" b="0">
                <a:solidFill>
                  <a:srgbClr val="F5F8F5"/>
                </a:solidFill>
                <a:latin typeface="Segoe UI"/>
                <a:ea typeface="Segoe UI"/>
                <a:cs typeface="Segoe UI"/>
              </a:rPr>
              <a:t>Export the classification results</a:t>
            </a:r>
          </a:p>
        </p:txBody>
      </p:sp>
      <p:sp>
        <p:nvSpPr>
          <p:cNvPr id="7" name="Up to 100 rows per CSV upload">
            <a:extLst xmlns:a="http://schemas.openxmlformats.org/drawingml/2006/main">
              <a:ext uri="{FF2B5EF4-FFF2-40B4-BE49-F238E27FC236}">
                <a16:creationId xmlns:a16="http://schemas.microsoft.com/office/drawing/2014/main" id="{48C141D5-8DC9-48CF-9E6A-BE1D29B20604}"/>
              </a:ext>
            </a:extLst>
          </p:cNvPr>
          <p:cNvSpPr>
            <a:spLocks xmlns:a="http://schemas.openxmlformats.org/drawingml/2006/main" noGrp="1"/>
          </p:cNvSpPr>
          <p:nvPr/>
        </p:nvSpPr>
        <p:spPr>
          <a:xfrm xmlns:a="http://schemas.openxmlformats.org/drawingml/2006/main">
            <a:off x="457200" y="61341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7BFC4"/>
                </a:solidFill>
                <a:latin typeface="Segoe UI"/>
                <a:ea typeface="Segoe UI"/>
                <a:cs typeface="Segoe UI"/>
              </a:defRPr>
            </a:pPr>
            <a:r>
              <a:rPr sz="1500" b="0">
                <a:solidFill>
                  <a:srgbClr val="A7BFC4"/>
                </a:solidFill>
                <a:latin typeface="Segoe UI"/>
                <a:ea typeface="Segoe UI"/>
                <a:cs typeface="Segoe UI"/>
              </a:rPr>
              <a:t>Up to 100 rows per CSV upload</a:t>
            </a:r>
          </a:p>
        </p:txBody>
      </p:sp>
    </p:spTree>
    <p:extLst>
      <p:ext uri="{BB962C8B-B14F-4D97-AF65-F5344CB8AC3E}">
        <p14:creationId xmlns:p14="http://schemas.microsoft.com/office/powerpoint/2010/main" val="337942561"/>
      </p:ext>
    </p:extLst>
  </p:cSld>
</p:sld>
</file>

<file path=ppt/slides/slide7.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9" name="Local evaluation results">
            <a:extLst xmlns:a="http://schemas.openxmlformats.org/drawingml/2006/main">
              <a:ext uri="{FF2B5EF4-FFF2-40B4-BE49-F238E27FC236}">
                <a16:creationId xmlns:a16="http://schemas.microsoft.com/office/drawing/2014/main" id="{B9BEDF49-2B1D-4A4B-A2C5-979D24158636}"/>
              </a:ext>
            </a:extLst>
          </p:cNvPr>
          <p:cNvSpPr>
            <a:spLocks xmlns:a="http://schemas.openxmlformats.org/drawingml/2006/main" noGrp="1"/>
          </p:cNvSpPr>
          <p:nvPr/>
        </p:nvSpPr>
        <p:spPr>
          <a:xfrm xmlns:a="http://schemas.openxmlformats.org/drawingml/2006/main">
            <a:off x="457200" y="400050"/>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8F5"/>
                </a:solidFill>
                <a:latin typeface="Segoe UI"/>
                <a:ea typeface="Segoe UI"/>
                <a:cs typeface="Segoe UI"/>
              </a:defRPr>
            </a:pPr>
            <a:r>
              <a:rPr sz="3450" b="1">
                <a:solidFill>
                  <a:srgbClr val="F5F8F5"/>
                </a:solidFill>
                <a:latin typeface="Segoe UI"/>
                <a:ea typeface="Segoe UI"/>
                <a:cs typeface="Segoe UI"/>
              </a:rPr>
              <a:t>Local evaluation results</a:t>
            </a:r>
          </a:p>
        </p:txBody>
      </p:sp>
      <p:sp>
        <p:nvSpPr>
          <p:cNvPr id="2" name="07 / 08">
            <a:extLst xmlns:a="http://schemas.openxmlformats.org/drawingml/2006/main">
              <a:ext uri="{FF2B5EF4-FFF2-40B4-BE49-F238E27FC236}">
                <a16:creationId xmlns:a16="http://schemas.microsoft.com/office/drawing/2014/main" id="{9B553A6E-0C07-44F8-B964-45374EAF5380}"/>
              </a:ext>
            </a:extLst>
          </p:cNvPr>
          <p:cNvSpPr>
            <a:spLocks xmlns:a="http://schemas.openxmlformats.org/drawingml/2006/main" noGrp="1"/>
          </p:cNvSpPr>
          <p:nvPr/>
        </p:nvSpPr>
        <p:spPr>
          <a:xfrm xmlns:a="http://schemas.openxmlformats.org/drawingml/2006/main">
            <a:off x="11049000" y="6400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FC4"/>
                </a:solidFill>
                <a:latin typeface="Segoe UI"/>
                <a:ea typeface="Segoe UI"/>
                <a:cs typeface="Segoe UI"/>
              </a:defRPr>
            </a:pPr>
            <a:r>
              <a:rPr sz="1350" b="0">
                <a:solidFill>
                  <a:srgbClr val="A7BFC4"/>
                </a:solidFill>
                <a:latin typeface="Segoe UI"/>
                <a:ea typeface="Segoe UI"/>
                <a:cs typeface="Segoe UI"/>
              </a:rPr>
              <a:t>07 / 08</a:t>
            </a:r>
          </a:p>
        </p:txBody>
      </p:sp>
      <p:sp>
        <p:nvSpPr>
          <p:cNvPr id="3" name="Same 50 ordinary synthetic requests. Five additional emergen">
            <a:extLst xmlns:a="http://schemas.openxmlformats.org/drawingml/2006/main">
              <a:ext uri="{FF2B5EF4-FFF2-40B4-BE49-F238E27FC236}">
                <a16:creationId xmlns:a16="http://schemas.microsoft.com/office/drawing/2014/main" id="{E8A57673-A057-4765-A779-B4F38F600A05}"/>
              </a:ext>
            </a:extLst>
          </p:cNvPr>
          <p:cNvSpPr>
            <a:spLocks xmlns:a="http://schemas.openxmlformats.org/drawingml/2006/main" noGrp="1"/>
          </p:cNvSpPr>
          <p:nvPr/>
        </p:nvSpPr>
        <p:spPr>
          <a:xfrm xmlns:a="http://schemas.openxmlformats.org/drawingml/2006/main">
            <a:off x="457200" y="13239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7BFC4"/>
                </a:solidFill>
                <a:latin typeface="Segoe UI"/>
                <a:ea typeface="Segoe UI"/>
                <a:cs typeface="Segoe UI"/>
              </a:defRPr>
            </a:pPr>
            <a:r>
              <a:rPr sz="1950" b="0">
                <a:solidFill>
                  <a:srgbClr val="A7BFC4"/>
                </a:solidFill>
                <a:latin typeface="Segoe UI"/>
                <a:ea typeface="Segoe UI"/>
                <a:cs typeface="Segoe UI"/>
              </a:rPr>
              <a:t>Same 50 ordinary synthetic requests. Five additional emergencies used rules.</a:t>
            </a:r>
          </a:p>
        </p:txBody>
      </p:sp>
      <p:graphicFrame>
        <p:nvGraphicFramePr>
          <p:cNvPr id="12" name=""/>
          <p:cNvGraphicFramePr/>
          <p:nvPr/>
        </p:nvGraphicFramePr>
        <p:xfrm>
          <a:off xmlns:a="http://schemas.openxmlformats.org/drawingml/2006/main" x="457200" y="2209800"/>
          <a:ext xmlns:a="http://schemas.openxmlformats.org/drawingml/2006/main" cx="11125200" cy="2247900"/>
        </p:xfrm>
        <a:graphic xmlns:a="http://schemas.openxmlformats.org/drawingml/2006/main">
          <a:graphicData uri="http://schemas.openxmlformats.org/drawingml/2006/table">
            <a:tbl>
              <a:tblPr/>
              <a:tblGrid>
                <a:gridCol w="5448300"/>
                <a:gridCol w="2838450"/>
                <a:gridCol w="2838450"/>
              </a:tblGrid>
              <a:tr h="561975">
                <a:tc>
                  <a:txBody>
                    <a:bodyPr/>
                    <a:lstStyle/>
                    <a:p>
                      <a:r>
                        <a:rPr sz="2025" b="1">
                          <a:solidFill>
                            <a:srgbClr val="76E1BD"/>
                          </a:solidFill>
                          <a:latin typeface="Segoe UI"/>
                          <a:ea typeface="Segoe UI"/>
                          <a:cs typeface="Segoe UI"/>
                        </a:rPr>
                        <a:t>Outcome</a:t>
                      </a:r>
                    </a:p>
                  </a:txBody>
                  <a:tcPr marL="91440" marR="91440" marT="45720" marB="45720">
                    <a:solidFill>
                      <a:srgbClr val="163940"/>
                    </a:solidFill>
                  </a:tcPr>
                </a:tc>
                <a:tc>
                  <a:txBody>
                    <a:bodyPr/>
                    <a:lstStyle/>
                    <a:p>
                      <a:r>
                        <a:rPr sz="2025" b="1">
                          <a:solidFill>
                            <a:srgbClr val="76E1BD"/>
                          </a:solidFill>
                          <a:latin typeface="Segoe UI"/>
                          <a:ea typeface="Segoe UI"/>
                          <a:cs typeface="Segoe UI"/>
                        </a:rPr>
                        <a:t>Offline baseline</a:t>
                      </a:r>
                    </a:p>
                  </a:txBody>
                  <a:tcPr marL="91440" marR="91440" marT="45720" marB="45720">
                    <a:solidFill>
                      <a:srgbClr val="163940"/>
                    </a:solidFill>
                  </a:tcPr>
                </a:tc>
                <a:tc>
                  <a:txBody>
                    <a:bodyPr/>
                    <a:lstStyle/>
                    <a:p>
                      <a:r>
                        <a:rPr sz="2025" b="1">
                          <a:solidFill>
                            <a:srgbClr val="76E1BD"/>
                          </a:solidFill>
                          <a:latin typeface="Segoe UI"/>
                          <a:ea typeface="Segoe UI"/>
                          <a:cs typeface="Segoe UI"/>
                        </a:rPr>
                        <a:t>Gemma 3</a:t>
                      </a:r>
                    </a:p>
                  </a:txBody>
                  <a:tcPr marL="91440" marR="91440" marT="45720" marB="45720">
                    <a:solidFill>
                      <a:srgbClr val="163940"/>
                    </a:solidFill>
                  </a:tcPr>
                </a:tc>
              </a:tr>
              <a:tr h="561975">
                <a:tc>
                  <a:txBody>
                    <a:bodyPr/>
                    <a:lstStyle/>
                    <a:p>
                      <a:r>
                        <a:rPr sz="2025" b="0">
                          <a:solidFill>
                            <a:srgbClr val="F5F8F5"/>
                          </a:solidFill>
                          <a:latin typeface="Segoe UI"/>
                          <a:ea typeface="Segoe UI"/>
                          <a:cs typeface="Segoe UI"/>
                        </a:rPr>
                        <a:t>Valid, correct category</a:t>
                      </a:r>
                    </a:p>
                  </a:txBody>
                  <a:tcPr marL="91440" marR="91440" marT="45720" marB="45720">
                    <a:solidFill>
                      <a:srgbClr val="0B202B"/>
                    </a:solidFill>
                  </a:tcPr>
                </a:tc>
                <a:tc>
                  <a:txBody>
                    <a:bodyPr/>
                    <a:lstStyle/>
                    <a:p>
                      <a:r>
                        <a:rPr sz="2025" b="0">
                          <a:solidFill>
                            <a:srgbClr val="F5F8F5"/>
                          </a:solidFill>
                          <a:latin typeface="Segoe UI"/>
                          <a:ea typeface="Segoe UI"/>
                          <a:cs typeface="Segoe UI"/>
                        </a:rPr>
                        <a:t>48 / 50</a:t>
                      </a:r>
                    </a:p>
                  </a:txBody>
                  <a:tcPr marL="91440" marR="91440" marT="45720" marB="45720">
                    <a:solidFill>
                      <a:srgbClr val="0B202B"/>
                    </a:solidFill>
                  </a:tcPr>
                </a:tc>
                <a:tc>
                  <a:txBody>
                    <a:bodyPr/>
                    <a:lstStyle/>
                    <a:p>
                      <a:r>
                        <a:rPr sz="2025" b="0">
                          <a:solidFill>
                            <a:srgbClr val="F5F8F5"/>
                          </a:solidFill>
                          <a:latin typeface="Segoe UI"/>
                          <a:ea typeface="Segoe UI"/>
                          <a:cs typeface="Segoe UI"/>
                        </a:rPr>
                        <a:t>42 / 50</a:t>
                      </a:r>
                    </a:p>
                  </a:txBody>
                  <a:tcPr marL="91440" marR="91440" marT="45720" marB="45720">
                    <a:solidFill>
                      <a:srgbClr val="0B202B"/>
                    </a:solidFill>
                  </a:tcPr>
                </a:tc>
              </a:tr>
              <a:tr h="561975">
                <a:tc>
                  <a:txBody>
                    <a:bodyPr/>
                    <a:lstStyle/>
                    <a:p>
                      <a:r>
                        <a:rPr sz="2025" b="0">
                          <a:solidFill>
                            <a:srgbClr val="F5F8F5"/>
                          </a:solidFill>
                          <a:latin typeface="Segoe UI"/>
                          <a:ea typeface="Segoe UI"/>
                          <a:cs typeface="Segoe UI"/>
                        </a:rPr>
                        <a:t>Rejected model outputs</a:t>
                      </a:r>
                    </a:p>
                  </a:txBody>
                  <a:tcPr marL="91440" marR="91440" marT="45720" marB="45720">
                    <a:solidFill>
                      <a:srgbClr val="0B202B"/>
                    </a:solidFill>
                  </a:tcPr>
                </a:tc>
                <a:tc>
                  <a:txBody>
                    <a:bodyPr/>
                    <a:lstStyle/>
                    <a:p>
                      <a:r>
                        <a:rPr sz="2025" b="0">
                          <a:solidFill>
                            <a:srgbClr val="F5F8F5"/>
                          </a:solidFill>
                          <a:latin typeface="Segoe UI"/>
                          <a:ea typeface="Segoe UI"/>
                          <a:cs typeface="Segoe UI"/>
                        </a:rPr>
                        <a:t>0</a:t>
                      </a:r>
                    </a:p>
                  </a:txBody>
                  <a:tcPr marL="91440" marR="91440" marT="45720" marB="45720">
                    <a:solidFill>
                      <a:srgbClr val="0B202B"/>
                    </a:solidFill>
                  </a:tcPr>
                </a:tc>
                <a:tc>
                  <a:txBody>
                    <a:bodyPr/>
                    <a:lstStyle/>
                    <a:p>
                      <a:r>
                        <a:rPr sz="2025" b="0">
                          <a:solidFill>
                            <a:srgbClr val="F5F8F5"/>
                          </a:solidFill>
                          <a:latin typeface="Segoe UI"/>
                          <a:ea typeface="Segoe UI"/>
                          <a:cs typeface="Segoe UI"/>
                        </a:rPr>
                        <a:t>2</a:t>
                      </a:r>
                    </a:p>
                  </a:txBody>
                  <a:tcPr marL="91440" marR="91440" marT="45720" marB="45720">
                    <a:solidFill>
                      <a:srgbClr val="0B202B"/>
                    </a:solidFill>
                  </a:tcPr>
                </a:tc>
              </a:tr>
              <a:tr h="561975">
                <a:tc>
                  <a:txBody>
                    <a:bodyPr/>
                    <a:lstStyle/>
                    <a:p>
                      <a:r>
                        <a:rPr sz="2025" b="0">
                          <a:solidFill>
                            <a:srgbClr val="F5F8F5"/>
                          </a:solidFill>
                          <a:latin typeface="Segoe UI"/>
                          <a:ea typeface="Segoe UI"/>
                          <a:cs typeface="Segoe UI"/>
                        </a:rPr>
                        <a:t>Default website engine</a:t>
                      </a:r>
                    </a:p>
                  </a:txBody>
                  <a:tcPr marL="91440" marR="91440" marT="45720" marB="45720">
                    <a:solidFill>
                      <a:srgbClr val="0B202B"/>
                    </a:solidFill>
                  </a:tcPr>
                </a:tc>
                <a:tc>
                  <a:txBody>
                    <a:bodyPr/>
                    <a:lstStyle/>
                    <a:p>
                      <a:r>
                        <a:rPr sz="2025" b="0">
                          <a:solidFill>
                            <a:srgbClr val="F5F8F5"/>
                          </a:solidFill>
                          <a:latin typeface="Segoe UI"/>
                          <a:ea typeface="Segoe UI"/>
                          <a:cs typeface="Segoe UI"/>
                        </a:rPr>
                        <a:t>Yes</a:t>
                      </a:r>
                    </a:p>
                  </a:txBody>
                  <a:tcPr marL="91440" marR="91440" marT="45720" marB="45720">
                    <a:solidFill>
                      <a:srgbClr val="0B202B"/>
                    </a:solidFill>
                  </a:tcPr>
                </a:tc>
                <a:tc>
                  <a:txBody>
                    <a:bodyPr/>
                    <a:lstStyle/>
                    <a:p>
                      <a:r>
                        <a:rPr sz="2025" b="0">
                          <a:solidFill>
                            <a:srgbClr val="F5F8F5"/>
                          </a:solidFill>
                          <a:latin typeface="Segoe UI"/>
                          <a:ea typeface="Segoe UI"/>
                          <a:cs typeface="Segoe UI"/>
                        </a:rPr>
                        <a:t>Optional</a:t>
                      </a:r>
                    </a:p>
                  </a:txBody>
                  <a:tcPr marL="91440" marR="91440" marT="45720" marB="45720">
                    <a:solidFill>
                      <a:srgbClr val="0B202B"/>
                    </a:solidFill>
                  </a:tcPr>
                </a:tc>
              </a:tr>
            </a:tbl>
          </a:graphicData>
        </a:graphic>
      </p:graphicFrame>
      <p:sp>
        <p:nvSpPr>
          <p:cNvPr id="5" name="gemma3:4b    4.3B parameters    Q4_K_M    RTX 3080">
            <a:extLst xmlns:a="http://schemas.openxmlformats.org/drawingml/2006/main">
              <a:ext uri="{FF2B5EF4-FFF2-40B4-BE49-F238E27FC236}">
                <a16:creationId xmlns:a16="http://schemas.microsoft.com/office/drawing/2014/main" id="{C5C5FC73-F07B-49C7-9FEB-4334197E28F6}"/>
              </a:ext>
            </a:extLst>
          </p:cNvPr>
          <p:cNvSpPr>
            <a:spLocks xmlns:a="http://schemas.openxmlformats.org/drawingml/2006/main" noGrp="1"/>
          </p:cNvSpPr>
          <p:nvPr/>
        </p:nvSpPr>
        <p:spPr>
          <a:xfrm xmlns:a="http://schemas.openxmlformats.org/drawingml/2006/main">
            <a:off x="457200" y="47339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6E1BD"/>
                </a:solidFill>
                <a:latin typeface="Segoe UI"/>
                <a:ea typeface="Segoe UI"/>
                <a:cs typeface="Segoe UI"/>
              </a:defRPr>
            </a:pPr>
            <a:r>
              <a:rPr sz="2025" b="1">
                <a:solidFill>
                  <a:srgbClr val="76E1BD"/>
                </a:solidFill>
                <a:latin typeface="Segoe UI"/>
                <a:ea typeface="Segoe UI"/>
                <a:cs typeface="Segoe UI"/>
              </a:rPr>
              <a:t>gemma3:4b    4.3B parameters    Q4_K_M    RTX 3080</a:t>
            </a:r>
          </a:p>
        </p:txBody>
      </p:sp>
      <p:sp>
        <p:nvSpPr>
          <p:cNvPr id="6" name="1.12 s average valid warm response    1.32 s including rejec">
            <a:extLst xmlns:a="http://schemas.openxmlformats.org/drawingml/2006/main">
              <a:ext uri="{FF2B5EF4-FFF2-40B4-BE49-F238E27FC236}">
                <a16:creationId xmlns:a16="http://schemas.microsoft.com/office/drawing/2014/main" id="{D9168565-2046-400B-AEBD-ACA3FD86DF93}"/>
              </a:ext>
            </a:extLst>
          </p:cNvPr>
          <p:cNvSpPr>
            <a:spLocks xmlns:a="http://schemas.openxmlformats.org/drawingml/2006/main" noGrp="1"/>
          </p:cNvSpPr>
          <p:nvPr/>
        </p:nvSpPr>
        <p:spPr>
          <a:xfrm xmlns:a="http://schemas.openxmlformats.org/drawingml/2006/main">
            <a:off x="457200" y="5257800"/>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5F8F5"/>
                </a:solidFill>
                <a:latin typeface="Segoe UI"/>
                <a:ea typeface="Segoe UI"/>
                <a:cs typeface="Segoe UI"/>
              </a:defRPr>
            </a:pPr>
            <a:r>
              <a:rPr sz="1950" b="0">
                <a:solidFill>
                  <a:srgbClr val="F5F8F5"/>
                </a:solidFill>
                <a:latin typeface="Segoe UI"/>
                <a:ea typeface="Segoe UI"/>
                <a:cs typeface="Segoe UI"/>
              </a:rPr>
              <a:t>1.12 s average valid warm response    1.32 s including rejected attempts</a:t>
            </a:r>
          </a:p>
        </p:txBody>
      </p:sp>
      <p:sp>
        <p:nvSpPr>
          <p:cNvPr id="7" name="First cold response: 86.6 s. Measurements: 3 October 2026.">
            <a:extLst xmlns:a="http://schemas.openxmlformats.org/drawingml/2006/main">
              <a:ext uri="{FF2B5EF4-FFF2-40B4-BE49-F238E27FC236}">
                <a16:creationId xmlns:a16="http://schemas.microsoft.com/office/drawing/2014/main" id="{968D1207-12CC-460E-A1C9-A70E700E2061}"/>
              </a:ext>
            </a:extLst>
          </p:cNvPr>
          <p:cNvSpPr>
            <a:spLocks xmlns:a="http://schemas.openxmlformats.org/drawingml/2006/main" noGrp="1"/>
          </p:cNvSpPr>
          <p:nvPr/>
        </p:nvSpPr>
        <p:spPr>
          <a:xfrm xmlns:a="http://schemas.openxmlformats.org/drawingml/2006/main">
            <a:off x="457200" y="5781675"/>
            <a:ext cx="1114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7BFC4"/>
                </a:solidFill>
                <a:latin typeface="Segoe UI"/>
                <a:ea typeface="Segoe UI"/>
                <a:cs typeface="Segoe UI"/>
              </a:defRPr>
            </a:pPr>
            <a:r>
              <a:rPr sz="1650" b="0">
                <a:solidFill>
                  <a:srgbClr val="A7BFC4"/>
                </a:solidFill>
                <a:latin typeface="Segoe UI"/>
                <a:ea typeface="Segoe UI"/>
                <a:cs typeface="Segoe UI"/>
              </a:rPr>
              <a:t>First cold response: 86.6 s. Measurements: 3 October 2026.</a:t>
            </a:r>
          </a:p>
        </p:txBody>
      </p:sp>
      <p:sp>
        <p:nvSpPr>
          <p:cNvPr id="8" name="Synthetic development checks. Real resident accuracy remains">
            <a:extLst xmlns:a="http://schemas.openxmlformats.org/drawingml/2006/main">
              <a:ext uri="{FF2B5EF4-FFF2-40B4-BE49-F238E27FC236}">
                <a16:creationId xmlns:a16="http://schemas.microsoft.com/office/drawing/2014/main" id="{A1DC0639-53EB-4526-9D61-D1D39F2F663C}"/>
              </a:ext>
            </a:extLst>
          </p:cNvPr>
          <p:cNvSpPr>
            <a:spLocks xmlns:a="http://schemas.openxmlformats.org/drawingml/2006/main" noGrp="1"/>
          </p:cNvSpPr>
          <p:nvPr/>
        </p:nvSpPr>
        <p:spPr>
          <a:xfrm xmlns:a="http://schemas.openxmlformats.org/drawingml/2006/main">
            <a:off x="457200" y="62293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7BFC4"/>
                </a:solidFill>
                <a:latin typeface="Segoe UI"/>
                <a:ea typeface="Segoe UI"/>
                <a:cs typeface="Segoe UI"/>
              </a:defRPr>
            </a:pPr>
            <a:r>
              <a:rPr sz="1425" b="0">
                <a:solidFill>
                  <a:srgbClr val="A7BFC4"/>
                </a:solidFill>
                <a:latin typeface="Segoe UI"/>
                <a:ea typeface="Segoe UI"/>
                <a:cs typeface="Segoe UI"/>
              </a:rPr>
              <a:t>Synthetic development checks. Real resident accuracy remains unverified.</a:t>
            </a:r>
          </a:p>
        </p:txBody>
      </p:sp>
    </p:spTree>
    <p:extLst>
      <p:ext uri="{BB962C8B-B14F-4D97-AF65-F5344CB8AC3E}">
        <p14:creationId xmlns:p14="http://schemas.microsoft.com/office/powerpoint/2010/main" val="1249296164"/>
      </p:ext>
    </p:extLst>
  </p:cSld>
</p:sld>
</file>

<file path=ppt/slides/slide8.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13" name="Local startup">
            <a:extLst xmlns:a="http://schemas.openxmlformats.org/drawingml/2006/main">
              <a:ext uri="{FF2B5EF4-FFF2-40B4-BE49-F238E27FC236}">
                <a16:creationId xmlns:a16="http://schemas.microsoft.com/office/drawing/2014/main" id="{134306B7-6DAD-4926-AF93-406246AA551F}"/>
              </a:ext>
            </a:extLst>
          </p:cNvPr>
          <p:cNvSpPr>
            <a:spLocks xmlns:a="http://schemas.openxmlformats.org/drawingml/2006/main" noGrp="1"/>
          </p:cNvSpPr>
          <p:nvPr/>
        </p:nvSpPr>
        <p:spPr>
          <a:xfrm xmlns:a="http://schemas.openxmlformats.org/drawingml/2006/main">
            <a:off x="457200" y="400050"/>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8F5"/>
                </a:solidFill>
                <a:latin typeface="Segoe UI"/>
                <a:ea typeface="Segoe UI"/>
                <a:cs typeface="Segoe UI"/>
              </a:defRPr>
            </a:pPr>
            <a:r>
              <a:rPr sz="3450" b="1">
                <a:solidFill>
                  <a:srgbClr val="F5F8F5"/>
                </a:solidFill>
                <a:latin typeface="Segoe UI"/>
                <a:ea typeface="Segoe UI"/>
                <a:cs typeface="Segoe UI"/>
              </a:rPr>
              <a:t>Local startup</a:t>
            </a:r>
          </a:p>
        </p:txBody>
      </p:sp>
      <p:sp>
        <p:nvSpPr>
          <p:cNvPr id="2" name="08 / 08">
            <a:extLst xmlns:a="http://schemas.openxmlformats.org/drawingml/2006/main">
              <a:ext uri="{FF2B5EF4-FFF2-40B4-BE49-F238E27FC236}">
                <a16:creationId xmlns:a16="http://schemas.microsoft.com/office/drawing/2014/main" id="{26FC36D8-77C7-4BEE-8B2D-6F65C9E69FBC}"/>
              </a:ext>
            </a:extLst>
          </p:cNvPr>
          <p:cNvSpPr>
            <a:spLocks xmlns:a="http://schemas.openxmlformats.org/drawingml/2006/main" noGrp="1"/>
          </p:cNvSpPr>
          <p:nvPr/>
        </p:nvSpPr>
        <p:spPr>
          <a:xfrm xmlns:a="http://schemas.openxmlformats.org/drawingml/2006/main">
            <a:off x="11049000" y="6400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7BFC4"/>
                </a:solidFill>
                <a:latin typeface="Segoe UI"/>
                <a:ea typeface="Segoe UI"/>
                <a:cs typeface="Segoe UI"/>
              </a:defRPr>
            </a:pPr>
            <a:r>
              <a:rPr sz="1350" b="0">
                <a:solidFill>
                  <a:srgbClr val="A7BFC4"/>
                </a:solidFill>
                <a:latin typeface="Segoe UI"/>
                <a:ea typeface="Segoe UI"/>
                <a:cs typeface="Segoe UI"/>
              </a:rPr>
              <a:t>08 / 08</a:t>
            </a:r>
          </a:p>
        </p:txBody>
      </p:sp>
      <p:sp>
        <p:nvSpPr>
          <p:cNvPr id="3" name="1">
            <a:extLst xmlns:a="http://schemas.openxmlformats.org/drawingml/2006/main">
              <a:ext uri="{FF2B5EF4-FFF2-40B4-BE49-F238E27FC236}">
                <a16:creationId xmlns:a16="http://schemas.microsoft.com/office/drawing/2014/main" id="{309E644A-F4B2-48F5-99BF-00EFB2ADBC44}"/>
              </a:ext>
            </a:extLst>
          </p:cNvPr>
          <p:cNvSpPr>
            <a:spLocks xmlns:a="http://schemas.openxmlformats.org/drawingml/2006/main" noGrp="1"/>
          </p:cNvSpPr>
          <p:nvPr/>
        </p:nvSpPr>
        <p:spPr>
          <a:xfrm xmlns:a="http://schemas.openxmlformats.org/drawingml/2006/main">
            <a:off x="457200" y="15049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6E1BD"/>
                </a:solidFill>
                <a:latin typeface="Segoe UI"/>
                <a:ea typeface="Segoe UI"/>
                <a:cs typeface="Segoe UI"/>
              </a:defRPr>
            </a:pPr>
            <a:r>
              <a:rPr sz="2700" b="1">
                <a:solidFill>
                  <a:srgbClr val="76E1BD"/>
                </a:solidFill>
                <a:latin typeface="Segoe UI"/>
                <a:ea typeface="Segoe UI"/>
                <a:cs typeface="Segoe UI"/>
              </a:rPr>
              <a:t>1</a:t>
            </a:r>
          </a:p>
        </p:txBody>
      </p:sp>
      <p:sp>
        <p:nvSpPr>
          <p:cNvPr id="4" name="Open the project folder">
            <a:extLst xmlns:a="http://schemas.openxmlformats.org/drawingml/2006/main">
              <a:ext uri="{FF2B5EF4-FFF2-40B4-BE49-F238E27FC236}">
                <a16:creationId xmlns:a16="http://schemas.microsoft.com/office/drawing/2014/main" id="{03DB4C05-FFBF-4BCA-8811-64FA2A5016C3}"/>
              </a:ext>
            </a:extLst>
          </p:cNvPr>
          <p:cNvSpPr>
            <a:spLocks xmlns:a="http://schemas.openxmlformats.org/drawingml/2006/main" noGrp="1"/>
          </p:cNvSpPr>
          <p:nvPr/>
        </p:nvSpPr>
        <p:spPr>
          <a:xfrm xmlns:a="http://schemas.openxmlformats.org/drawingml/2006/main">
            <a:off x="1238250" y="15049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5F8F5"/>
                </a:solidFill>
                <a:latin typeface="Segoe UI"/>
                <a:ea typeface="Segoe UI"/>
                <a:cs typeface="Segoe UI"/>
              </a:defRPr>
            </a:pPr>
            <a:r>
              <a:rPr sz="2400" b="1">
                <a:solidFill>
                  <a:srgbClr val="F5F8F5"/>
                </a:solidFill>
                <a:latin typeface="Segoe UI"/>
                <a:ea typeface="Segoe UI"/>
                <a:cs typeface="Segoe UI"/>
              </a:rPr>
              <a:t>Open the project folder</a:t>
            </a:r>
          </a:p>
        </p:txBody>
      </p:sp>
      <p:sp>
        <p:nvSpPr>
          <p:cNvPr id="5" name="C:\Users\Skith\Documents\MSG">
            <a:extLst xmlns:a="http://schemas.openxmlformats.org/drawingml/2006/main">
              <a:ext uri="{FF2B5EF4-FFF2-40B4-BE49-F238E27FC236}">
                <a16:creationId xmlns:a16="http://schemas.microsoft.com/office/drawing/2014/main" id="{5EBDDE53-BD17-47CB-AB99-53120AC3F487}"/>
              </a:ext>
            </a:extLst>
          </p:cNvPr>
          <p:cNvSpPr>
            <a:spLocks xmlns:a="http://schemas.openxmlformats.org/drawingml/2006/main" noGrp="1"/>
          </p:cNvSpPr>
          <p:nvPr/>
        </p:nvSpPr>
        <p:spPr>
          <a:xfrm xmlns:a="http://schemas.openxmlformats.org/drawingml/2006/main">
            <a:off x="1238250" y="200977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7BFC4"/>
                </a:solidFill>
                <a:latin typeface="Segoe UI"/>
                <a:ea typeface="Segoe UI"/>
                <a:cs typeface="Segoe UI"/>
              </a:defRPr>
            </a:pPr>
            <a:r>
              <a:rPr sz="2025" b="0">
                <a:solidFill>
                  <a:srgbClr val="A7BFC4"/>
                </a:solidFill>
                <a:latin typeface="Segoe UI"/>
                <a:ea typeface="Segoe UI"/>
                <a:cs typeface="Segoe UI"/>
              </a:rPr>
              <a:t>C:\Users\Skith\Documents\MSG</a:t>
            </a:r>
          </a:p>
        </p:txBody>
      </p:sp>
      <p:sp>
        <p:nvSpPr>
          <p:cNvPr id="6" name="2">
            <a:extLst xmlns:a="http://schemas.openxmlformats.org/drawingml/2006/main">
              <a:ext uri="{FF2B5EF4-FFF2-40B4-BE49-F238E27FC236}">
                <a16:creationId xmlns:a16="http://schemas.microsoft.com/office/drawing/2014/main" id="{AB7B5C86-8FA4-4F15-A9F0-015E81FFCA34}"/>
              </a:ext>
            </a:extLst>
          </p:cNvPr>
          <p:cNvSpPr>
            <a:spLocks xmlns:a="http://schemas.openxmlformats.org/drawingml/2006/main" noGrp="1"/>
          </p:cNvSpPr>
          <p:nvPr/>
        </p:nvSpPr>
        <p:spPr>
          <a:xfrm xmlns:a="http://schemas.openxmlformats.org/drawingml/2006/main">
            <a:off x="457200" y="27622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6E1BD"/>
                </a:solidFill>
                <a:latin typeface="Segoe UI"/>
                <a:ea typeface="Segoe UI"/>
                <a:cs typeface="Segoe UI"/>
              </a:defRPr>
            </a:pPr>
            <a:r>
              <a:rPr sz="2700" b="1">
                <a:solidFill>
                  <a:srgbClr val="76E1BD"/>
                </a:solidFill>
                <a:latin typeface="Segoe UI"/>
                <a:ea typeface="Segoe UI"/>
                <a:cs typeface="Segoe UI"/>
              </a:rPr>
              <a:t>2</a:t>
            </a:r>
          </a:p>
        </p:txBody>
      </p:sp>
      <p:sp>
        <p:nvSpPr>
          <p:cNvPr id="7" name="Run start_project.cmd">
            <a:extLst xmlns:a="http://schemas.openxmlformats.org/drawingml/2006/main">
              <a:ext uri="{FF2B5EF4-FFF2-40B4-BE49-F238E27FC236}">
                <a16:creationId xmlns:a16="http://schemas.microsoft.com/office/drawing/2014/main" id="{B5138DB0-AEC3-4C09-97F0-642CE0EC822E}"/>
              </a:ext>
            </a:extLst>
          </p:cNvPr>
          <p:cNvSpPr>
            <a:spLocks xmlns:a="http://schemas.openxmlformats.org/drawingml/2006/main" noGrp="1"/>
          </p:cNvSpPr>
          <p:nvPr/>
        </p:nvSpPr>
        <p:spPr>
          <a:xfrm xmlns:a="http://schemas.openxmlformats.org/drawingml/2006/main">
            <a:off x="1238250" y="2762250"/>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5F8F5"/>
                </a:solidFill>
                <a:latin typeface="Segoe UI"/>
                <a:ea typeface="Segoe UI"/>
                <a:cs typeface="Segoe UI"/>
              </a:defRPr>
            </a:pPr>
            <a:r>
              <a:rPr sz="2400" b="1">
                <a:solidFill>
                  <a:srgbClr val="F5F8F5"/>
                </a:solidFill>
                <a:latin typeface="Segoe UI"/>
                <a:ea typeface="Segoe UI"/>
                <a:cs typeface="Segoe UI"/>
              </a:rPr>
              <a:t>Run start_project.cmd</a:t>
            </a:r>
          </a:p>
        </p:txBody>
      </p:sp>
      <p:sp>
        <p:nvSpPr>
          <p:cNvPr id="8" name="The launcher starts Ollama and the website.">
            <a:extLst xmlns:a="http://schemas.openxmlformats.org/drawingml/2006/main">
              <a:ext uri="{FF2B5EF4-FFF2-40B4-BE49-F238E27FC236}">
                <a16:creationId xmlns:a16="http://schemas.microsoft.com/office/drawing/2014/main" id="{3E6E1308-3B22-437E-A6AF-5C036DA5DA0C}"/>
              </a:ext>
            </a:extLst>
          </p:cNvPr>
          <p:cNvSpPr>
            <a:spLocks xmlns:a="http://schemas.openxmlformats.org/drawingml/2006/main" noGrp="1"/>
          </p:cNvSpPr>
          <p:nvPr/>
        </p:nvSpPr>
        <p:spPr>
          <a:xfrm xmlns:a="http://schemas.openxmlformats.org/drawingml/2006/main">
            <a:off x="1238250" y="3267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7BFC4"/>
                </a:solidFill>
                <a:latin typeface="Segoe UI"/>
                <a:ea typeface="Segoe UI"/>
                <a:cs typeface="Segoe UI"/>
              </a:defRPr>
            </a:pPr>
            <a:r>
              <a:rPr sz="2025" b="0">
                <a:solidFill>
                  <a:srgbClr val="A7BFC4"/>
                </a:solidFill>
                <a:latin typeface="Segoe UI"/>
                <a:ea typeface="Segoe UI"/>
                <a:cs typeface="Segoe UI"/>
              </a:rPr>
              <a:t>The launcher starts Ollama and the website.</a:t>
            </a:r>
          </a:p>
        </p:txBody>
      </p:sp>
      <p:sp>
        <p:nvSpPr>
          <p:cNvPr id="9" name="3">
            <a:extLst xmlns:a="http://schemas.openxmlformats.org/drawingml/2006/main">
              <a:ext uri="{FF2B5EF4-FFF2-40B4-BE49-F238E27FC236}">
                <a16:creationId xmlns:a16="http://schemas.microsoft.com/office/drawing/2014/main" id="{2CC6B54D-5F01-4C37-BECF-6D80F17977BB}"/>
              </a:ext>
            </a:extLst>
          </p:cNvPr>
          <p:cNvSpPr>
            <a:spLocks xmlns:a="http://schemas.openxmlformats.org/drawingml/2006/main" noGrp="1"/>
          </p:cNvSpPr>
          <p:nvPr/>
        </p:nvSpPr>
        <p:spPr>
          <a:xfrm xmlns:a="http://schemas.openxmlformats.org/drawingml/2006/main">
            <a:off x="457200" y="40195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6E1BD"/>
                </a:solidFill>
                <a:latin typeface="Segoe UI"/>
                <a:ea typeface="Segoe UI"/>
                <a:cs typeface="Segoe UI"/>
              </a:defRPr>
            </a:pPr>
            <a:r>
              <a:rPr sz="2700" b="1">
                <a:solidFill>
                  <a:srgbClr val="76E1BD"/>
                </a:solidFill>
                <a:latin typeface="Segoe UI"/>
                <a:ea typeface="Segoe UI"/>
                <a:cs typeface="Segoe UI"/>
              </a:rPr>
              <a:t>3</a:t>
            </a:r>
          </a:p>
        </p:txBody>
      </p:sp>
      <p:sp>
        <p:nvSpPr>
          <p:cNvPr id="10" name="Open http://localhost:8501/">
            <a:extLst xmlns:a="http://schemas.openxmlformats.org/drawingml/2006/main">
              <a:ext uri="{FF2B5EF4-FFF2-40B4-BE49-F238E27FC236}">
                <a16:creationId xmlns:a16="http://schemas.microsoft.com/office/drawing/2014/main" id="{B535D8B8-A71F-43B3-B283-5F74DB8D0CA8}"/>
              </a:ext>
            </a:extLst>
          </p:cNvPr>
          <p:cNvSpPr>
            <a:spLocks xmlns:a="http://schemas.openxmlformats.org/drawingml/2006/main" noGrp="1"/>
          </p:cNvSpPr>
          <p:nvPr/>
        </p:nvSpPr>
        <p:spPr>
          <a:xfrm xmlns:a="http://schemas.openxmlformats.org/drawingml/2006/main">
            <a:off x="1238250" y="4019550"/>
            <a:ext cx="10096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5F8F5"/>
                </a:solidFill>
                <a:latin typeface="Segoe UI"/>
                <a:ea typeface="Segoe UI"/>
                <a:cs typeface="Segoe UI"/>
              </a:defRPr>
            </a:pPr>
            <a:r>
              <a:rPr sz="2400" b="1">
                <a:solidFill>
                  <a:srgbClr val="F5F8F5"/>
                </a:solidFill>
                <a:latin typeface="Segoe UI"/>
                <a:ea typeface="Segoe UI"/>
                <a:cs typeface="Segoe UI"/>
              </a:rPr>
              <a:t>Open http://localhost:8501/</a:t>
            </a:r>
          </a:p>
        </p:txBody>
      </p:sp>
      <p:sp>
        <p:nvSpPr>
          <p:cNvPr id="11" name="Choose Offline baseline or Ollama in the sidebar.">
            <a:extLst xmlns:a="http://schemas.openxmlformats.org/drawingml/2006/main">
              <a:ext uri="{FF2B5EF4-FFF2-40B4-BE49-F238E27FC236}">
                <a16:creationId xmlns:a16="http://schemas.microsoft.com/office/drawing/2014/main" id="{F7F6703E-CECA-4769-B651-51A76B66DCEF}"/>
              </a:ext>
            </a:extLst>
          </p:cNvPr>
          <p:cNvSpPr>
            <a:spLocks xmlns:a="http://schemas.openxmlformats.org/drawingml/2006/main" noGrp="1"/>
          </p:cNvSpPr>
          <p:nvPr/>
        </p:nvSpPr>
        <p:spPr>
          <a:xfrm xmlns:a="http://schemas.openxmlformats.org/drawingml/2006/main">
            <a:off x="1238250" y="45243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7BFC4"/>
                </a:solidFill>
                <a:latin typeface="Segoe UI"/>
                <a:ea typeface="Segoe UI"/>
                <a:cs typeface="Segoe UI"/>
              </a:defRPr>
            </a:pPr>
            <a:r>
              <a:rPr sz="2025" b="0">
                <a:solidFill>
                  <a:srgbClr val="A7BFC4"/>
                </a:solidFill>
                <a:latin typeface="Segoe UI"/>
                <a:ea typeface="Segoe UI"/>
                <a:cs typeface="Segoe UI"/>
              </a:rPr>
              <a:t>Choose Offline baseline or Ollama in the sidebar.</a:t>
            </a:r>
          </a:p>
        </p:txBody>
      </p:sp>
      <p:sp>
        <p:nvSpPr>
          <p:cNvPr id="12" name="Offline only: start_project.cmd -SkipOllama">
            <a:extLst xmlns:a="http://schemas.openxmlformats.org/drawingml/2006/main">
              <a:ext uri="{FF2B5EF4-FFF2-40B4-BE49-F238E27FC236}">
                <a16:creationId xmlns:a16="http://schemas.microsoft.com/office/drawing/2014/main" id="{283349AE-80E7-4FAB-B1F1-E9A3EFF9BD7E}"/>
              </a:ext>
            </a:extLst>
          </p:cNvPr>
          <p:cNvSpPr>
            <a:spLocks xmlns:a="http://schemas.openxmlformats.org/drawingml/2006/main" noGrp="1"/>
          </p:cNvSpPr>
          <p:nvPr/>
        </p:nvSpPr>
        <p:spPr>
          <a:xfrm xmlns:a="http://schemas.openxmlformats.org/drawingml/2006/main">
            <a:off x="1238250" y="5514975"/>
            <a:ext cx="1019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76E1BD"/>
                </a:solidFill>
                <a:latin typeface="Segoe UI"/>
                <a:ea typeface="Segoe UI"/>
                <a:cs typeface="Segoe UI"/>
              </a:defRPr>
            </a:pPr>
            <a:r>
              <a:rPr sz="1875" b="0">
                <a:solidFill>
                  <a:srgbClr val="76E1BD"/>
                </a:solidFill>
                <a:latin typeface="Segoe UI"/>
                <a:ea typeface="Segoe UI"/>
                <a:cs typeface="Segoe UI"/>
              </a:rPr>
              <a:t>Offline only: start_project.cmd -SkipOllama</a:t>
            </a:r>
          </a:p>
        </p:txBody>
      </p:sp>
    </p:spTree>
    <p:extLst>
      <p:ext uri="{BB962C8B-B14F-4D97-AF65-F5344CB8AC3E}">
        <p14:creationId xmlns:p14="http://schemas.microsoft.com/office/powerpoint/2010/main" val="1193406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2026-10-04T05:21:48.0420000Z</dcterms:created>
  <dcterms:modified xsi:type="dcterms:W3CDTF">2026-10-04T05:21:48.0420000Z</dcterms:modified>
</coreProperties>
</file>